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docProps/custom.xml" ContentType="application/vnd.openxmlformats-officedocument.custom-properties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  <Relationship Id="rId22" Type="http://schemas.openxmlformats.org/officeDocument/2006/relationships/slide" Target="slides/slide17.xml"/>
  <Relationship Id="rId23" Type="http://schemas.openxmlformats.org/officeDocument/2006/relationships/slide" Target="slides/slide18.xml"/>
  <Relationship Id="rId24" Type="http://schemas.openxmlformats.org/officeDocument/2006/relationships/slide" Target="slides/slide19.xml"/>
  <Relationship Id="rId25" Type="http://schemas.openxmlformats.org/officeDocument/2006/relationships/slide" Target="slides/slide20.xml"/>
  <Relationship Id="rId26" Type="http://schemas.openxmlformats.org/officeDocument/2006/relationships/slide" Target="slides/slide21.xml"/>
  <Relationship Id="rId27" Type="http://schemas.openxmlformats.org/officeDocument/2006/relationships/slide" Target="slides/slide22.xml"/>
  <Relationship Id="rId28" Type="http://schemas.openxmlformats.org/officeDocument/2006/relationships/slide" Target="slides/slide23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1B4A4A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1B4A4A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1B4A4A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10258" y="1814843"/>
            <a:ext cx="7643495" cy="6619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1F332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1B4A4A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BBD8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0258" y="810253"/>
            <a:ext cx="8038466" cy="10109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1B4A4A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5334" y="2116454"/>
            <a:ext cx="8324850" cy="3702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0220" rIns="0" bIns="0" rtlCol="0" vert="horz">
            <a:spAutoFit/>
          </a:bodyPr>
          <a:lstStyle/>
          <a:p>
            <a:pPr marL="287020">
              <a:lnSpc>
                <a:spcPct val="100000"/>
              </a:lnSpc>
              <a:spcBef>
                <a:spcPts val="100"/>
              </a:spcBef>
            </a:pPr>
            <a:r>
              <a:rPr dirty="0" sz="3900" b="0">
                <a:latin typeface="Cambria"/>
                <a:cs typeface="Cambria"/>
              </a:rPr>
              <a:t>DBMS – PBL  |  Review 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2652578"/>
            <a:ext cx="8154670" cy="3020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95"/>
              </a:spcBef>
            </a:pPr>
            <a:r>
              <a:rPr dirty="0" sz="6000" b="1">
                <a:solidFill>
                  <a:srgbClr val="1B4A4A"/>
                </a:solidFill>
                <a:latin typeface="Cambria"/>
                <a:cs typeface="Cambria"/>
              </a:rPr>
              <a:t>Campus</a:t>
            </a:r>
            <a:r>
              <a:rPr dirty="0" sz="6000" spc="-260" b="1">
                <a:solidFill>
                  <a:srgbClr val="1B4A4A"/>
                </a:solidFill>
                <a:latin typeface="Cambria"/>
                <a:cs typeface="Cambria"/>
              </a:rPr>
              <a:t> </a:t>
            </a:r>
            <a:r>
              <a:rPr dirty="0" sz="6000" spc="-10" b="1">
                <a:solidFill>
                  <a:srgbClr val="1B4A4A"/>
                </a:solidFill>
                <a:latin typeface="Cambria"/>
                <a:cs typeface="Cambria"/>
              </a:rPr>
              <a:t>Placement</a:t>
            </a:r>
            <a:r>
              <a:rPr dirty="0" sz="6000" spc="-240" b="1">
                <a:solidFill>
                  <a:srgbClr val="1B4A4A"/>
                </a:solidFill>
                <a:latin typeface="Cambria"/>
                <a:cs typeface="Cambria"/>
              </a:rPr>
              <a:t> </a:t>
            </a:r>
            <a:r>
              <a:rPr dirty="0" sz="6000" spc="-25" b="1">
                <a:solidFill>
                  <a:srgbClr val="1B4A4A"/>
                </a:solidFill>
                <a:latin typeface="Cambria"/>
                <a:cs typeface="Cambria"/>
              </a:rPr>
              <a:t>and </a:t>
            </a:r>
            <a:r>
              <a:rPr dirty="0" sz="6000" b="1">
                <a:solidFill>
                  <a:srgbClr val="1B4A4A"/>
                </a:solidFill>
                <a:latin typeface="Cambria"/>
                <a:cs typeface="Cambria"/>
              </a:rPr>
              <a:t>Recruitment</a:t>
            </a:r>
            <a:r>
              <a:rPr dirty="0" sz="6000" spc="-235" b="1">
                <a:solidFill>
                  <a:srgbClr val="1B4A4A"/>
                </a:solidFill>
                <a:latin typeface="Cambria"/>
                <a:cs typeface="Cambria"/>
              </a:rPr>
              <a:t> </a:t>
            </a:r>
            <a:r>
              <a:rPr dirty="0" sz="6000" spc="-10" b="1">
                <a:solidFill>
                  <a:srgbClr val="1B4A4A"/>
                </a:solidFill>
                <a:latin typeface="Cambria"/>
                <a:cs typeface="Cambria"/>
              </a:rPr>
              <a:t>Drive Management</a:t>
            </a:r>
            <a:r>
              <a:rPr dirty="0" sz="6000" spc="-310" b="1">
                <a:solidFill>
                  <a:srgbClr val="1B4A4A"/>
                </a:solidFill>
                <a:latin typeface="Cambria"/>
                <a:cs typeface="Cambria"/>
              </a:rPr>
              <a:t> </a:t>
            </a:r>
            <a:r>
              <a:rPr dirty="0" sz="6000" spc="-10" b="1">
                <a:solidFill>
                  <a:srgbClr val="1B4A4A"/>
                </a:solidFill>
                <a:latin typeface="Cambria"/>
                <a:cs typeface="Cambria"/>
              </a:rPr>
              <a:t>System</a:t>
            </a:r>
            <a:endParaRPr sz="60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3400" y="7115175"/>
            <a:ext cx="8572500" cy="2914650"/>
            <a:chOff x="533400" y="7115175"/>
            <a:chExt cx="8572500" cy="29146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" y="7115175"/>
              <a:ext cx="8572500" cy="29146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55153" y="7199091"/>
              <a:ext cx="8329295" cy="2673985"/>
            </a:xfrm>
            <a:custGeom>
              <a:avLst/>
              <a:gdLst/>
              <a:ahLst/>
              <a:cxnLst/>
              <a:rect l="l" t="t" r="r" b="b"/>
              <a:pathLst>
                <a:path w="8329295" h="2673984">
                  <a:moveTo>
                    <a:pt x="7942376" y="0"/>
                  </a:moveTo>
                  <a:lnTo>
                    <a:pt x="392874" y="0"/>
                  </a:lnTo>
                  <a:lnTo>
                    <a:pt x="380022" y="152"/>
                  </a:lnTo>
                  <a:lnTo>
                    <a:pt x="341591" y="3314"/>
                  </a:lnTo>
                  <a:lnTo>
                    <a:pt x="303644" y="10210"/>
                  </a:lnTo>
                  <a:lnTo>
                    <a:pt x="266573" y="20802"/>
                  </a:lnTo>
                  <a:lnTo>
                    <a:pt x="230708" y="34975"/>
                  </a:lnTo>
                  <a:lnTo>
                    <a:pt x="196405" y="52590"/>
                  </a:lnTo>
                  <a:lnTo>
                    <a:pt x="163995" y="73482"/>
                  </a:lnTo>
                  <a:lnTo>
                    <a:pt x="133794" y="97459"/>
                  </a:lnTo>
                  <a:lnTo>
                    <a:pt x="106083" y="124269"/>
                  </a:lnTo>
                  <a:lnTo>
                    <a:pt x="81140" y="153682"/>
                  </a:lnTo>
                  <a:lnTo>
                    <a:pt x="59194" y="185381"/>
                  </a:lnTo>
                  <a:lnTo>
                    <a:pt x="40462" y="219087"/>
                  </a:lnTo>
                  <a:lnTo>
                    <a:pt x="25133" y="254469"/>
                  </a:lnTo>
                  <a:lnTo>
                    <a:pt x="13335" y="291185"/>
                  </a:lnTo>
                  <a:lnTo>
                    <a:pt x="5194" y="328866"/>
                  </a:lnTo>
                  <a:lnTo>
                    <a:pt x="787" y="367182"/>
                  </a:lnTo>
                  <a:lnTo>
                    <a:pt x="0" y="386448"/>
                  </a:lnTo>
                  <a:lnTo>
                    <a:pt x="0" y="2281059"/>
                  </a:lnTo>
                  <a:lnTo>
                    <a:pt x="3302" y="2332354"/>
                  </a:lnTo>
                  <a:lnTo>
                    <a:pt x="10210" y="2370289"/>
                  </a:lnTo>
                  <a:lnTo>
                    <a:pt x="20789" y="2407373"/>
                  </a:lnTo>
                  <a:lnTo>
                    <a:pt x="34963" y="2443225"/>
                  </a:lnTo>
                  <a:lnTo>
                    <a:pt x="52590" y="2477528"/>
                  </a:lnTo>
                  <a:lnTo>
                    <a:pt x="73482" y="2509939"/>
                  </a:lnTo>
                  <a:lnTo>
                    <a:pt x="97447" y="2540152"/>
                  </a:lnTo>
                  <a:lnTo>
                    <a:pt x="124269" y="2567851"/>
                  </a:lnTo>
                  <a:lnTo>
                    <a:pt x="153670" y="2592806"/>
                  </a:lnTo>
                  <a:lnTo>
                    <a:pt x="185381" y="2614739"/>
                  </a:lnTo>
                  <a:lnTo>
                    <a:pt x="219087" y="2633471"/>
                  </a:lnTo>
                  <a:lnTo>
                    <a:pt x="254457" y="2648813"/>
                  </a:lnTo>
                  <a:lnTo>
                    <a:pt x="291172" y="2660611"/>
                  </a:lnTo>
                  <a:lnTo>
                    <a:pt x="328866" y="2668752"/>
                  </a:lnTo>
                  <a:lnTo>
                    <a:pt x="367169" y="2673159"/>
                  </a:lnTo>
                  <a:lnTo>
                    <a:pt x="386448" y="2673946"/>
                  </a:lnTo>
                  <a:lnTo>
                    <a:pt x="7935950" y="2673946"/>
                  </a:lnTo>
                  <a:lnTo>
                    <a:pt x="7987233" y="2670632"/>
                  </a:lnTo>
                  <a:lnTo>
                    <a:pt x="8025168" y="2663736"/>
                  </a:lnTo>
                  <a:lnTo>
                    <a:pt x="8062252" y="2653144"/>
                  </a:lnTo>
                  <a:lnTo>
                    <a:pt x="8098116" y="2638971"/>
                  </a:lnTo>
                  <a:lnTo>
                    <a:pt x="8132419" y="2621356"/>
                  </a:lnTo>
                  <a:lnTo>
                    <a:pt x="8164817" y="2600451"/>
                  </a:lnTo>
                  <a:lnTo>
                    <a:pt x="8195017" y="2576487"/>
                  </a:lnTo>
                  <a:lnTo>
                    <a:pt x="8222729" y="2549677"/>
                  </a:lnTo>
                  <a:lnTo>
                    <a:pt x="8247684" y="2520264"/>
                  </a:lnTo>
                  <a:lnTo>
                    <a:pt x="8269630" y="2488564"/>
                  </a:lnTo>
                  <a:lnTo>
                    <a:pt x="8288362" y="2454859"/>
                  </a:lnTo>
                  <a:lnTo>
                    <a:pt x="8303691" y="2419476"/>
                  </a:lnTo>
                  <a:lnTo>
                    <a:pt x="8315490" y="2382761"/>
                  </a:lnTo>
                  <a:lnTo>
                    <a:pt x="8323630" y="2345067"/>
                  </a:lnTo>
                  <a:lnTo>
                    <a:pt x="8328037" y="2306764"/>
                  </a:lnTo>
                  <a:lnTo>
                    <a:pt x="8328825" y="2287485"/>
                  </a:lnTo>
                  <a:lnTo>
                    <a:pt x="8328825" y="392874"/>
                  </a:lnTo>
                  <a:lnTo>
                    <a:pt x="8325523" y="341591"/>
                  </a:lnTo>
                  <a:lnTo>
                    <a:pt x="8318614" y="303656"/>
                  </a:lnTo>
                  <a:lnTo>
                    <a:pt x="8308022" y="266572"/>
                  </a:lnTo>
                  <a:lnTo>
                    <a:pt x="8293861" y="230720"/>
                  </a:lnTo>
                  <a:lnTo>
                    <a:pt x="8276234" y="196418"/>
                  </a:lnTo>
                  <a:lnTo>
                    <a:pt x="8255342" y="164007"/>
                  </a:lnTo>
                  <a:lnTo>
                    <a:pt x="8231365" y="133807"/>
                  </a:lnTo>
                  <a:lnTo>
                    <a:pt x="8204555" y="106095"/>
                  </a:lnTo>
                  <a:lnTo>
                    <a:pt x="8175155" y="81140"/>
                  </a:lnTo>
                  <a:lnTo>
                    <a:pt x="8143443" y="59194"/>
                  </a:lnTo>
                  <a:lnTo>
                    <a:pt x="8109737" y="40474"/>
                  </a:lnTo>
                  <a:lnTo>
                    <a:pt x="8074355" y="25133"/>
                  </a:lnTo>
                  <a:lnTo>
                    <a:pt x="8037639" y="13334"/>
                  </a:lnTo>
                  <a:lnTo>
                    <a:pt x="7999958" y="5194"/>
                  </a:lnTo>
                  <a:lnTo>
                    <a:pt x="7961642" y="787"/>
                  </a:lnTo>
                  <a:lnTo>
                    <a:pt x="79423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564639" y="7367234"/>
            <a:ext cx="2270125" cy="224536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sz="2500" spc="-25">
                <a:solidFill>
                  <a:srgbClr val="5C7A70"/>
                </a:solidFill>
                <a:latin typeface="Calibri"/>
                <a:cs typeface="Calibri"/>
              </a:rPr>
              <a:t>by</a:t>
            </a:r>
            <a:endParaRPr sz="2500">
              <a:latin typeface="Calibri"/>
              <a:cs typeface="Calibri"/>
            </a:endParaRPr>
          </a:p>
          <a:p>
            <a:pPr marL="12700" marR="5080">
              <a:lnSpc>
                <a:spcPts val="4540"/>
              </a:lnSpc>
              <a:spcBef>
                <a:spcPts val="105"/>
              </a:spcBef>
            </a:pPr>
            <a:r>
              <a:rPr dirty="0" sz="2900" b="1">
                <a:solidFill>
                  <a:srgbClr val="1B4A4A"/>
                </a:solidFill>
                <a:latin typeface="Calibri"/>
                <a:cs typeface="Calibri"/>
              </a:rPr>
              <a:t>Farhan</a:t>
            </a:r>
            <a:r>
              <a:rPr dirty="0" sz="2900" spc="-80" b="1">
                <a:solidFill>
                  <a:srgbClr val="1B4A4A"/>
                </a:solidFill>
                <a:latin typeface="Calibri"/>
                <a:cs typeface="Calibri"/>
              </a:rPr>
              <a:t> </a:t>
            </a:r>
            <a:r>
              <a:rPr dirty="0" sz="2900" spc="-10" b="1">
                <a:solidFill>
                  <a:srgbClr val="1B4A4A"/>
                </a:solidFill>
                <a:latin typeface="Calibri"/>
                <a:cs typeface="Calibri"/>
              </a:rPr>
              <a:t>Ansari </a:t>
            </a:r>
            <a:r>
              <a:rPr dirty="0" sz="2900">
                <a:solidFill>
                  <a:srgbClr val="1F332F"/>
                </a:solidFill>
                <a:latin typeface="Calibri"/>
                <a:cs typeface="Calibri"/>
              </a:rPr>
              <a:t>AIML</a:t>
            </a:r>
            <a:r>
              <a:rPr dirty="0" sz="2900" spc="-2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1F332F"/>
                </a:solidFill>
                <a:latin typeface="Calibri"/>
                <a:cs typeface="Calibri"/>
              </a:rPr>
              <a:t>RHINOS </a:t>
            </a:r>
            <a:r>
              <a:rPr dirty="0" sz="2900" spc="-10">
                <a:solidFill>
                  <a:srgbClr val="1F332F"/>
                </a:solidFill>
                <a:latin typeface="Calibri"/>
                <a:cs typeface="Calibri"/>
              </a:rPr>
              <a:t>25WU0102074</a:t>
            </a:r>
            <a:endParaRPr sz="29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10887" y="1663960"/>
            <a:ext cx="6057011" cy="60570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10259" y="509185"/>
            <a:ext cx="120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 spc="225">
                <a:solidFill>
                  <a:srgbClr val="D98E3C"/>
                </a:solidFill>
                <a:latin typeface="Calibri"/>
                <a:cs typeface="Calibri"/>
              </a:rPr>
              <a:t>WHERE WE STARTED AND WHAT WE BUILT</a:t>
            </a:r>
          </a:p>
        </p:txBody>
      </p:sp>
      <p:sp>
        <p:nvSpPr>
          <p:cNvPr id="3" name="Title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3315" rIns="0" bIns="0" rtlCol="0" vert="horz">
            <a:spAutoFit/>
          </a:bodyPr>
          <a:lstStyle/>
          <a:p>
            <a:pPr marL="12700"/>
            <a:r>
              <a:rPr lang="en-US" dirty="0" spc="-25">
                <a:latin typeface="Cambria"/>
                <a:cs typeface="Cambria"/>
              </a:rPr>
              <a:t>Project Recap</a:t>
            </a:r>
          </a:p>
        </p:txBody>
      </p:sp>
      <p:sp>
        <p:nvSpPr>
          <p:cNvPr id="4" name="Card 4"/>
          <p:cNvSpPr/>
          <p:nvPr/>
        </p:nvSpPr>
        <p:spPr>
          <a:xfrm>
            <a:off x="822956" y="2200000"/>
            <a:ext cx="7600000" cy="3300000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>
            <a:noFill/>
          </a:ln>
        </p:spPr>
        <p:txBody>
          <a:bodyPr wrap="square" lIns="300000" tIns="300000" rIns="300000" bIns="300000" rtlCol="0" anchor="t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dirty="0" sz="2300" b="1" i="0">
                <a:solidFill>
                  <a:srgbClr val="1B4A4A"/>
                </a:solidFill>
                <a:latin typeface="Cambria"/>
                <a:cs typeface="Cambria"/>
              </a:rPr>
              <a:t>The Problem</a:t>
            </a:r>
          </a:p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Placement data kept in spreadsheets and separate records leads to duplicates, errors and slow reporting.</a:t>
            </a:r>
          </a:p>
        </p:txBody>
      </p:sp>
      <p:sp>
        <p:nvSpPr>
          <p:cNvPr id="5" name="Card 5"/>
          <p:cNvSpPr/>
          <p:nvPr/>
        </p:nvSpPr>
        <p:spPr>
          <a:xfrm>
            <a:off x="822956" y="5800000"/>
            <a:ext cx="7600000" cy="3500000"/>
          </a:xfrm>
          <a:prstGeom prst="roundRect">
            <a:avLst>
              <a:gd name="adj" fmla="val 3918"/>
            </a:avLst>
          </a:prstGeom>
          <a:solidFill>
            <a:srgbClr val="1B4A4A"/>
          </a:solidFill>
          <a:ln>
            <a:noFill/>
          </a:ln>
        </p:spPr>
        <p:txBody>
          <a:bodyPr wrap="square" lIns="300000" tIns="300000" rIns="300000" bIns="300000" rtlCol="0" anchor="t">
            <a:noAutofit/>
          </a:bodyPr>
          <a:lstStyle/>
          <a:p>
            <a:pPr algn="l">
              <a:spcAft>
                <a:spcPts val="800"/>
              </a:spcAft>
              <a:buNone/>
            </a:pPr>
            <a:r>
              <a:rPr lang="en-US" dirty="0" sz="2300" b="1" i="0">
                <a:solidFill>
                  <a:srgbClr val="FFFFFF"/>
                </a:solidFill>
                <a:latin typeface="Cambria"/>
                <a:cs typeface="Cambria"/>
              </a:rPr>
              <a:t>The Solution</a:t>
            </a:r>
          </a:p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FFFFFF"/>
                </a:solidFill>
                <a:latin typeface="Calibri"/>
                <a:cs typeface="Calibri"/>
              </a:rPr>
              <a:t>A Python console application on a MySQL database that manages students, companies, jobs, applications and interviews in one place.</a:t>
            </a:r>
          </a:p>
        </p:txBody>
      </p:sp>
      <p:sp>
        <p:nvSpPr>
          <p:cNvPr id="6" name="Stat 6"/>
          <p:cNvSpPr/>
          <p:nvPr/>
        </p:nvSpPr>
        <p:spPr>
          <a:xfrm>
            <a:off x="8872956" y="2200000"/>
            <a:ext cx="4260339" cy="3400000"/>
          </a:xfrm>
          <a:prstGeom prst="roundRect">
            <a:avLst>
              <a:gd name="adj" fmla="val 4034"/>
            </a:avLst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dirty="0" sz="6000" b="1" i="0">
                <a:solidFill>
                  <a:srgbClr val="FFFFFF"/>
                </a:solidFill>
                <a:latin typeface="Cambria"/>
                <a:cs typeface="Cambria"/>
              </a:rPr>
              <a:t>5</a:t>
            </a:r>
          </a:p>
          <a:p>
            <a:pPr algn="ctr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</a:p>
        </p:txBody>
      </p:sp>
      <p:sp>
        <p:nvSpPr>
          <p:cNvPr id="7" name="Stat 7"/>
          <p:cNvSpPr/>
          <p:nvPr/>
        </p:nvSpPr>
        <p:spPr>
          <a:xfrm>
            <a:off x="13433295" y="2200000"/>
            <a:ext cx="4260339" cy="3400000"/>
          </a:xfrm>
          <a:prstGeom prst="roundRect">
            <a:avLst>
              <a:gd name="adj" fmla="val 4034"/>
            </a:avLst>
          </a:prstGeom>
          <a:solidFill>
            <a:srgbClr val="2C3A8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dirty="0" sz="6000" b="1" i="0">
                <a:solidFill>
                  <a:srgbClr val="FFFFFF"/>
                </a:solidFill>
                <a:latin typeface="Cambria"/>
                <a:cs typeface="Cambria"/>
              </a:rPr>
              <a:t>4</a:t>
            </a:r>
          </a:p>
          <a:p>
            <a:pPr algn="ctr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FFFFFF"/>
                </a:solidFill>
                <a:latin typeface="Calibri"/>
                <a:cs typeface="Calibri"/>
              </a:rPr>
              <a:t>Foreign keys</a:t>
            </a:r>
          </a:p>
        </p:txBody>
      </p:sp>
      <p:sp>
        <p:nvSpPr>
          <p:cNvPr id="8" name="Stat 8"/>
          <p:cNvSpPr/>
          <p:nvPr/>
        </p:nvSpPr>
        <p:spPr>
          <a:xfrm>
            <a:off x="8872956" y="5900000"/>
            <a:ext cx="4260339" cy="3400000"/>
          </a:xfrm>
          <a:prstGeom prst="roundRect">
            <a:avLst>
              <a:gd name="adj" fmla="val 4034"/>
            </a:avLst>
          </a:prstGeom>
          <a:solidFill>
            <a:srgbClr val="2C3A8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dirty="0" sz="6000" b="1" i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</a:p>
          <a:p>
            <a:pPr algn="ctr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FFFFFF"/>
                </a:solidFill>
                <a:latin typeface="Calibri"/>
                <a:cs typeface="Calibri"/>
              </a:rPr>
              <a:t>Operations</a:t>
            </a:r>
          </a:p>
        </p:txBody>
      </p:sp>
      <p:sp>
        <p:nvSpPr>
          <p:cNvPr id="9" name="Stat 9"/>
          <p:cNvSpPr/>
          <p:nvPr/>
        </p:nvSpPr>
        <p:spPr>
          <a:xfrm>
            <a:off x="13433295" y="5900000"/>
            <a:ext cx="4260339" cy="3400000"/>
          </a:xfrm>
          <a:prstGeom prst="roundRect">
            <a:avLst>
              <a:gd name="adj" fmla="val 4034"/>
            </a:avLst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dirty="0" sz="6000" b="1" i="0">
                <a:solidFill>
                  <a:srgbClr val="FFFFFF"/>
                </a:solidFill>
                <a:latin typeface="Cambria"/>
                <a:cs typeface="Cambria"/>
              </a:rPr>
              <a:t>5</a:t>
            </a:r>
          </a:p>
          <a:p>
            <a:pPr algn="ctr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FFFFFF"/>
                </a:solidFill>
                <a:latin typeface="Calibri"/>
                <a:cs typeface="Calibri"/>
              </a:rPr>
              <a:t>Tables in the largest JOIN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10259" y="509185"/>
            <a:ext cx="120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 spc="225">
                <a:solidFill>
                  <a:srgbClr val="D98E3C"/>
                </a:solidFill>
                <a:latin typeface="Calibri"/>
                <a:cs typeface="Calibri"/>
              </a:rPr>
              <a:t>FINAL DATABASE DESIGN</a:t>
            </a:r>
          </a:p>
        </p:txBody>
      </p:sp>
      <p:sp>
        <p:nvSpPr>
          <p:cNvPr id="3" name="Title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3315" rIns="0" bIns="0" rtlCol="0" vert="horz">
            <a:spAutoFit/>
          </a:bodyPr>
          <a:lstStyle/>
          <a:p>
            <a:pPr marL="12700"/>
            <a:r>
              <a:rPr lang="en-US" dirty="0" spc="-25">
                <a:latin typeface="Cambria"/>
                <a:cs typeface="Cambria"/>
              </a:rPr>
              <a:t>Entity Relationship Overview</a:t>
            </a:r>
          </a:p>
        </p:txBody>
      </p:sp>
      <p:sp>
        <p:nvSpPr>
          <p:cNvPr id="4" name="Card 4"/>
          <p:cNvSpPr/>
          <p:nvPr/>
        </p:nvSpPr>
        <p:spPr>
          <a:xfrm>
            <a:off x="822956" y="2200000"/>
            <a:ext cx="3350000" cy="3350000"/>
          </a:xfrm>
          <a:prstGeom prst="roundRect">
            <a:avLst>
              <a:gd name="adj" fmla="val 4094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5" name="Entity 5"/>
          <p:cNvSpPr/>
          <p:nvPr/>
        </p:nvSpPr>
        <p:spPr>
          <a:xfrm>
            <a:off x="822956" y="2200000"/>
            <a:ext cx="3350000" cy="700000"/>
          </a:xfrm>
          <a:prstGeom prst="roundRect">
            <a:avLst>
              <a:gd name="adj" fmla="val 19594"/>
            </a:avLst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200" b="1" i="0">
                <a:solidFill>
                  <a:srgbClr val="FFFFFF"/>
                </a:solidFill>
                <a:latin typeface="Cambria"/>
                <a:cs typeface="Cambria"/>
              </a:rPr>
              <a:t>companies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42956" y="3020000"/>
            <a:ext cx="305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company_id (PK)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company_name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hr_email (UNIQUE)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industry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website</a:t>
            </a:r>
          </a:p>
        </p:txBody>
      </p:sp>
      <p:sp>
        <p:nvSpPr>
          <p:cNvPr id="7" name="Card 7"/>
          <p:cNvSpPr/>
          <p:nvPr/>
        </p:nvSpPr>
        <p:spPr>
          <a:xfrm>
            <a:off x="5329849" y="2200000"/>
            <a:ext cx="3350000" cy="3350000"/>
          </a:xfrm>
          <a:prstGeom prst="roundRect">
            <a:avLst>
              <a:gd name="adj" fmla="val 4094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8" name="Entity 8"/>
          <p:cNvSpPr/>
          <p:nvPr/>
        </p:nvSpPr>
        <p:spPr>
          <a:xfrm>
            <a:off x="5329849" y="2200000"/>
            <a:ext cx="3350000" cy="700000"/>
          </a:xfrm>
          <a:prstGeom prst="roundRect">
            <a:avLst>
              <a:gd name="adj" fmla="val 19594"/>
            </a:avLst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200" b="1" i="0">
                <a:solidFill>
                  <a:srgbClr val="FFFFFF"/>
                </a:solidFill>
                <a:latin typeface="Cambria"/>
                <a:cs typeface="Cambria"/>
              </a:rPr>
              <a:t>job_postings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5549849" y="3020000"/>
            <a:ext cx="305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job_id (PK)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company_id (FK)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job_title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package_lpa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min_cgpa_required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deadline</a:t>
            </a:r>
          </a:p>
        </p:txBody>
      </p:sp>
      <p:sp>
        <p:nvSpPr>
          <p:cNvPr id="10" name="Card 10"/>
          <p:cNvSpPr/>
          <p:nvPr/>
        </p:nvSpPr>
        <p:spPr>
          <a:xfrm>
            <a:off x="9836742" y="2200000"/>
            <a:ext cx="3350000" cy="3350000"/>
          </a:xfrm>
          <a:prstGeom prst="roundRect">
            <a:avLst>
              <a:gd name="adj" fmla="val 4094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1" name="Entity 11"/>
          <p:cNvSpPr/>
          <p:nvPr/>
        </p:nvSpPr>
        <p:spPr>
          <a:xfrm>
            <a:off x="9836742" y="2200000"/>
            <a:ext cx="3350000" cy="700000"/>
          </a:xfrm>
          <a:prstGeom prst="roundRect">
            <a:avLst>
              <a:gd name="adj" fmla="val 19594"/>
            </a:avLst>
          </a:prstGeom>
          <a:solidFill>
            <a:srgbClr val="2C3A8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200" b="1" i="0">
                <a:solidFill>
                  <a:srgbClr val="FFFFFF"/>
                </a:solidFill>
                <a:latin typeface="Cambria"/>
                <a:cs typeface="Cambria"/>
              </a:rPr>
              <a:t>applications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0056742" y="3020000"/>
            <a:ext cx="305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application_id (PK)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student_id (FK)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job_id (FK)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application_date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status</a:t>
            </a:r>
          </a:p>
        </p:txBody>
      </p:sp>
      <p:sp>
        <p:nvSpPr>
          <p:cNvPr id="13" name="Card 13"/>
          <p:cNvSpPr/>
          <p:nvPr/>
        </p:nvSpPr>
        <p:spPr>
          <a:xfrm>
            <a:off x="14343635" y="2200000"/>
            <a:ext cx="3350000" cy="3350000"/>
          </a:xfrm>
          <a:prstGeom prst="roundRect">
            <a:avLst>
              <a:gd name="adj" fmla="val 4094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4" name="Entity 14"/>
          <p:cNvSpPr/>
          <p:nvPr/>
        </p:nvSpPr>
        <p:spPr>
          <a:xfrm>
            <a:off x="14343635" y="2200000"/>
            <a:ext cx="3350000" cy="700000"/>
          </a:xfrm>
          <a:prstGeom prst="roundRect">
            <a:avLst>
              <a:gd name="adj" fmla="val 19594"/>
            </a:avLst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200" b="1" i="0">
                <a:solidFill>
                  <a:srgbClr val="FFFFFF"/>
                </a:solidFill>
                <a:latin typeface="Cambria"/>
                <a:cs typeface="Cambria"/>
              </a:rPr>
              <a:t>students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4563635" y="3020000"/>
            <a:ext cx="305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student_id (PK)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first_name, last_name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email (UNIQUE)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department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cgpa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status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4172956" y="3000000"/>
            <a:ext cx="1156893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D98E3C"/>
                </a:solidFill>
                <a:latin typeface="Calibri"/>
                <a:cs typeface="Calibri"/>
              </a:rPr>
              <a:t>1 : N</a:t>
            </a:r>
          </a:p>
        </p:txBody>
      </p:sp>
      <p:cxnSp>
        <p:nvCxnSpPr>
          <p:cNvPr id="17" name="Connector 17"/>
          <p:cNvCxnSpPr/>
          <p:nvPr/>
        </p:nvCxnSpPr>
        <p:spPr>
          <a:xfrm>
            <a:off x="4252956" y="3550000"/>
            <a:ext cx="996893" cy="0"/>
          </a:xfrm>
          <a:prstGeom prst="line">
            <a:avLst/>
          </a:prstGeom>
          <a:ln w="38100">
            <a:solidFill>
              <a:srgbClr val="D98E3C"/>
            </a:solidFill>
          </a:ln>
        </p:spPr>
      </p:cxnSp>
      <p:sp>
        <p:nvSpPr>
          <p:cNvPr id="18" name="Text 18"/>
          <p:cNvSpPr txBox="1"/>
          <p:nvPr/>
        </p:nvSpPr>
        <p:spPr>
          <a:xfrm>
            <a:off x="4172956" y="3650000"/>
            <a:ext cx="1156893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600" b="0" i="1">
                <a:solidFill>
                  <a:srgbClr val="1F332F"/>
                </a:solidFill>
                <a:latin typeface="Calibri"/>
                <a:cs typeface="Calibri"/>
              </a:rPr>
              <a:t>posts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8679849" y="3000000"/>
            <a:ext cx="1156893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D98E3C"/>
                </a:solidFill>
                <a:latin typeface="Calibri"/>
                <a:cs typeface="Calibri"/>
              </a:rPr>
              <a:t>1 : N</a:t>
            </a:r>
          </a:p>
        </p:txBody>
      </p:sp>
      <p:cxnSp>
        <p:nvCxnSpPr>
          <p:cNvPr id="20" name="Connector 20"/>
          <p:cNvCxnSpPr/>
          <p:nvPr/>
        </p:nvCxnSpPr>
        <p:spPr>
          <a:xfrm>
            <a:off x="8759849" y="3550000"/>
            <a:ext cx="996893" cy="0"/>
          </a:xfrm>
          <a:prstGeom prst="line">
            <a:avLst/>
          </a:prstGeom>
          <a:ln w="38100">
            <a:solidFill>
              <a:srgbClr val="D98E3C"/>
            </a:solidFill>
          </a:ln>
        </p:spPr>
      </p:cxnSp>
      <p:sp>
        <p:nvSpPr>
          <p:cNvPr id="21" name="Text 21"/>
          <p:cNvSpPr txBox="1"/>
          <p:nvPr/>
        </p:nvSpPr>
        <p:spPr>
          <a:xfrm>
            <a:off x="8679849" y="3650000"/>
            <a:ext cx="1156893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600" b="0" i="1">
                <a:solidFill>
                  <a:srgbClr val="1F332F"/>
                </a:solidFill>
                <a:latin typeface="Calibri"/>
                <a:cs typeface="Calibri"/>
              </a:rPr>
              <a:t>receives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3186742" y="3000000"/>
            <a:ext cx="1156893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D98E3C"/>
                </a:solidFill>
                <a:latin typeface="Calibri"/>
                <a:cs typeface="Calibri"/>
              </a:rPr>
              <a:t>N : 1</a:t>
            </a:r>
          </a:p>
        </p:txBody>
      </p:sp>
      <p:cxnSp>
        <p:nvCxnSpPr>
          <p:cNvPr id="23" name="Connector 23"/>
          <p:cNvCxnSpPr/>
          <p:nvPr/>
        </p:nvCxnSpPr>
        <p:spPr>
          <a:xfrm>
            <a:off x="13266742" y="3550000"/>
            <a:ext cx="996893" cy="0"/>
          </a:xfrm>
          <a:prstGeom prst="line">
            <a:avLst/>
          </a:prstGeom>
          <a:ln w="38100">
            <a:solidFill>
              <a:srgbClr val="D98E3C"/>
            </a:solidFill>
          </a:ln>
        </p:spPr>
      </p:cxnSp>
      <p:sp>
        <p:nvSpPr>
          <p:cNvPr id="24" name="Text 24"/>
          <p:cNvSpPr txBox="1"/>
          <p:nvPr/>
        </p:nvSpPr>
        <p:spPr>
          <a:xfrm>
            <a:off x="13186742" y="3650000"/>
            <a:ext cx="1156893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600" b="0" i="1">
                <a:solidFill>
                  <a:srgbClr val="1F332F"/>
                </a:solidFill>
                <a:latin typeface="Calibri"/>
                <a:cs typeface="Calibri"/>
              </a:rPr>
              <a:t>made by</a:t>
            </a:r>
          </a:p>
        </p:txBody>
      </p:sp>
      <p:sp>
        <p:nvSpPr>
          <p:cNvPr id="25" name="Card 25"/>
          <p:cNvSpPr/>
          <p:nvPr/>
        </p:nvSpPr>
        <p:spPr>
          <a:xfrm>
            <a:off x="9836742" y="6000000"/>
            <a:ext cx="3350000" cy="3350000"/>
          </a:xfrm>
          <a:prstGeom prst="roundRect">
            <a:avLst>
              <a:gd name="adj" fmla="val 4094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26" name="Entity 26"/>
          <p:cNvSpPr/>
          <p:nvPr/>
        </p:nvSpPr>
        <p:spPr>
          <a:xfrm>
            <a:off x="9836742" y="6000000"/>
            <a:ext cx="3350000" cy="700000"/>
          </a:xfrm>
          <a:prstGeom prst="roundRect">
            <a:avLst>
              <a:gd name="adj" fmla="val 19594"/>
            </a:avLst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200" b="1" i="0">
                <a:solidFill>
                  <a:srgbClr val="FFFFFF"/>
                </a:solidFill>
                <a:latin typeface="Cambria"/>
                <a:cs typeface="Cambria"/>
              </a:rPr>
              <a:t>interviews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10056742" y="6820000"/>
            <a:ext cx="305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interview_id (PK)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application_id (FK)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interview_date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interviewer_name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round_number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result</a:t>
            </a:r>
          </a:p>
        </p:txBody>
      </p:sp>
      <p:cxnSp>
        <p:nvCxnSpPr>
          <p:cNvPr id="28" name="Connector 28"/>
          <p:cNvCxnSpPr/>
          <p:nvPr/>
        </p:nvCxnSpPr>
        <p:spPr>
          <a:xfrm>
            <a:off x="11511742" y="5550000"/>
            <a:ext cx="0" cy="450000"/>
          </a:xfrm>
          <a:prstGeom prst="line">
            <a:avLst/>
          </a:prstGeom>
          <a:ln w="38100">
            <a:solidFill>
              <a:srgbClr val="D98E3C"/>
            </a:solidFill>
            <a:tailEnd type="triangle" w="lg" len="lg"/>
          </a:ln>
        </p:spPr>
      </p:cxnSp>
      <p:sp>
        <p:nvSpPr>
          <p:cNvPr id="29" name="Text 29"/>
          <p:cNvSpPr txBox="1"/>
          <p:nvPr/>
        </p:nvSpPr>
        <p:spPr>
          <a:xfrm>
            <a:off x="11661742" y="5560000"/>
            <a:ext cx="28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D98E3C"/>
                </a:solidFill>
                <a:latin typeface="Calibri"/>
                <a:cs typeface="Calibri"/>
              </a:rPr>
              <a:t>1 : N  leads to</a:t>
            </a:r>
          </a:p>
        </p:txBody>
      </p:sp>
      <p:sp>
        <p:nvSpPr>
          <p:cNvPr id="30" name="Note 30"/>
          <p:cNvSpPr/>
          <p:nvPr/>
        </p:nvSpPr>
        <p:spPr>
          <a:xfrm>
            <a:off x="822956" y="6000000"/>
            <a:ext cx="7856893" cy="3350000"/>
          </a:xfrm>
          <a:prstGeom prst="roundRect">
            <a:avLst>
              <a:gd name="adj" fmla="val 4094"/>
            </a:avLst>
          </a:prstGeom>
          <a:solidFill>
            <a:srgbClr val="FFFFFF"/>
          </a:solidFill>
          <a:ln>
            <a:noFill/>
          </a:ln>
        </p:spPr>
        <p:txBody>
          <a:bodyPr wrap="square" lIns="300000" tIns="300000" rIns="300000" bIns="300000" rtlCol="0" anchor="t">
            <a:no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n-US" dirty="0" sz="2200" b="1" i="0">
                <a:solidFill>
                  <a:srgbClr val="1B4A4A"/>
                </a:solidFill>
                <a:latin typeface="Cambria"/>
                <a:cs typeface="Cambria"/>
              </a:rPr>
              <a:t>Design summary</a:t>
            </a:r>
          </a:p>
          <a:p>
            <a:pPr algn="l" marL="285750" indent="-285750">
              <a:spcAft>
                <a:spcPts val="7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Students and jobs are many-to-many, resolved by applications</a:t>
            </a:r>
          </a:p>
          <a:p>
            <a:pPr algn="l" marL="285750" indent="-285750">
              <a:spcAft>
                <a:spcPts val="7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Normalized to 3NF with keys, CHECK, ENUM and defaults</a:t>
            </a:r>
          </a:p>
          <a:p>
            <a:pPr algn="l" marL="285750" indent="-285750">
              <a:spcAft>
                <a:spcPts val="7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ON DELETE CASCADE removes dependent rows safely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10259" y="509185"/>
            <a:ext cx="120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 spc="225">
                <a:solidFill>
                  <a:srgbClr val="D98E3C"/>
                </a:solidFill>
                <a:latin typeface="Calibri"/>
                <a:cs typeface="Calibri"/>
              </a:rPr>
              <a:t>TEN OPERATIONS IN FIVE MODULES</a:t>
            </a:r>
          </a:p>
        </p:txBody>
      </p:sp>
      <p:sp>
        <p:nvSpPr>
          <p:cNvPr id="3" name="Title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3315" rIns="0" bIns="0" rtlCol="0" vert="horz">
            <a:spAutoFit/>
          </a:bodyPr>
          <a:lstStyle/>
          <a:p>
            <a:pPr marL="12700"/>
            <a:r>
              <a:rPr lang="en-US" dirty="0" spc="-25">
                <a:latin typeface="Cambria"/>
                <a:cs typeface="Cambria"/>
              </a:rPr>
              <a:t>Final System Features</a:t>
            </a:r>
          </a:p>
        </p:txBody>
      </p:sp>
      <p:sp>
        <p:nvSpPr>
          <p:cNvPr id="4" name="Card 4"/>
          <p:cNvSpPr/>
          <p:nvPr/>
        </p:nvSpPr>
        <p:spPr>
          <a:xfrm>
            <a:off x="822956" y="2200000"/>
            <a:ext cx="3174135" cy="560000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5" name="Number 5"/>
          <p:cNvSpPr/>
          <p:nvPr/>
        </p:nvSpPr>
        <p:spPr>
          <a:xfrm>
            <a:off x="1072956" y="2450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1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72956" y="3350000"/>
            <a:ext cx="2724135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2300" b="1" i="0">
                <a:solidFill>
                  <a:srgbClr val="1B4A4A"/>
                </a:solidFill>
                <a:latin typeface="Cambria"/>
                <a:cs typeface="Cambria"/>
              </a:rPr>
              <a:t>Students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1072956" y="4300000"/>
            <a:ext cx="2724135" cy="3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dirty="0" sz="1800" b="1" i="0">
                <a:solidFill>
                  <a:srgbClr val="D98E3C"/>
                </a:solidFill>
                <a:latin typeface="Calibri"/>
                <a:cs typeface="Calibri"/>
              </a:rPr>
              <a:t>Add: </a:t>
            </a: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Add a student with CGPA</a:t>
            </a:r>
          </a:p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D98E3C"/>
                </a:solidFill>
                <a:latin typeface="Calibri"/>
                <a:cs typeface="Calibri"/>
              </a:rPr>
              <a:t>View: </a:t>
            </a: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View all students and status</a:t>
            </a:r>
          </a:p>
        </p:txBody>
      </p:sp>
      <p:sp>
        <p:nvSpPr>
          <p:cNvPr id="8" name="Card 8"/>
          <p:cNvSpPr/>
          <p:nvPr/>
        </p:nvSpPr>
        <p:spPr>
          <a:xfrm>
            <a:off x="4247091" y="2200000"/>
            <a:ext cx="3174135" cy="560000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9" name="Number 9"/>
          <p:cNvSpPr/>
          <p:nvPr/>
        </p:nvSpPr>
        <p:spPr>
          <a:xfrm>
            <a:off x="4497091" y="2450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2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4497091" y="3350000"/>
            <a:ext cx="2724135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2300" b="1" i="0">
                <a:solidFill>
                  <a:srgbClr val="1B4A4A"/>
                </a:solidFill>
                <a:latin typeface="Cambria"/>
                <a:cs typeface="Cambria"/>
              </a:rPr>
              <a:t>Companies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4497091" y="4300000"/>
            <a:ext cx="2724135" cy="3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dirty="0" sz="1800" b="1" i="0">
                <a:solidFill>
                  <a:srgbClr val="D98E3C"/>
                </a:solidFill>
                <a:latin typeface="Calibri"/>
                <a:cs typeface="Calibri"/>
              </a:rPr>
              <a:t>Add: </a:t>
            </a: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Add a company with HR email</a:t>
            </a:r>
          </a:p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D98E3C"/>
                </a:solidFill>
                <a:latin typeface="Calibri"/>
                <a:cs typeface="Calibri"/>
              </a:rPr>
              <a:t>View: </a:t>
            </a: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View all companies</a:t>
            </a:r>
          </a:p>
        </p:txBody>
      </p:sp>
      <p:sp>
        <p:nvSpPr>
          <p:cNvPr id="12" name="Card 12"/>
          <p:cNvSpPr/>
          <p:nvPr/>
        </p:nvSpPr>
        <p:spPr>
          <a:xfrm>
            <a:off x="7671226" y="2200000"/>
            <a:ext cx="3174135" cy="560000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3" name="Number 13"/>
          <p:cNvSpPr/>
          <p:nvPr/>
        </p:nvSpPr>
        <p:spPr>
          <a:xfrm>
            <a:off x="7921226" y="2450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3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7921226" y="3350000"/>
            <a:ext cx="2724135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2300" b="1" i="0">
                <a:solidFill>
                  <a:srgbClr val="1B4A4A"/>
                </a:solidFill>
                <a:latin typeface="Cambria"/>
                <a:cs typeface="Cambria"/>
              </a:rPr>
              <a:t>Job Postings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7921226" y="4300000"/>
            <a:ext cx="2724135" cy="3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dirty="0" sz="1800" b="1" i="0">
                <a:solidFill>
                  <a:srgbClr val="D98E3C"/>
                </a:solidFill>
                <a:latin typeface="Calibri"/>
                <a:cs typeface="Calibri"/>
              </a:rPr>
              <a:t>Add: </a:t>
            </a: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Add a job with package, minimum CGPA, deadline</a:t>
            </a:r>
          </a:p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D98E3C"/>
                </a:solidFill>
                <a:latin typeface="Calibri"/>
                <a:cs typeface="Calibri"/>
              </a:rPr>
              <a:t>View: </a:t>
            </a: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View jobs joined with company name</a:t>
            </a:r>
          </a:p>
        </p:txBody>
      </p:sp>
      <p:sp>
        <p:nvSpPr>
          <p:cNvPr id="16" name="Card 16"/>
          <p:cNvSpPr/>
          <p:nvPr/>
        </p:nvSpPr>
        <p:spPr>
          <a:xfrm>
            <a:off x="11095361" y="2200000"/>
            <a:ext cx="3174135" cy="560000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7" name="Number 17"/>
          <p:cNvSpPr/>
          <p:nvPr/>
        </p:nvSpPr>
        <p:spPr>
          <a:xfrm>
            <a:off x="11345361" y="2450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4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1345361" y="3350000"/>
            <a:ext cx="2724135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2300" b="1" i="0">
                <a:solidFill>
                  <a:srgbClr val="1B4A4A"/>
                </a:solidFill>
                <a:latin typeface="Cambria"/>
                <a:cs typeface="Cambria"/>
              </a:rPr>
              <a:t>Applications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11345361" y="4300000"/>
            <a:ext cx="2724135" cy="3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dirty="0" sz="1800" b="1" i="0">
                <a:solidFill>
                  <a:srgbClr val="D98E3C"/>
                </a:solidFill>
                <a:latin typeface="Calibri"/>
                <a:cs typeface="Calibri"/>
              </a:rPr>
              <a:t>Add: </a:t>
            </a: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Pick a student and a job to apply</a:t>
            </a:r>
          </a:p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D98E3C"/>
                </a:solidFill>
                <a:latin typeface="Calibri"/>
                <a:cs typeface="Calibri"/>
              </a:rPr>
              <a:t>View: </a:t>
            </a: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View applications with a 4-table JOIN</a:t>
            </a:r>
          </a:p>
        </p:txBody>
      </p:sp>
      <p:sp>
        <p:nvSpPr>
          <p:cNvPr id="20" name="Card 20"/>
          <p:cNvSpPr/>
          <p:nvPr/>
        </p:nvSpPr>
        <p:spPr>
          <a:xfrm>
            <a:off x="14519496" y="2200000"/>
            <a:ext cx="3174135" cy="560000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21" name="Number 21"/>
          <p:cNvSpPr/>
          <p:nvPr/>
        </p:nvSpPr>
        <p:spPr>
          <a:xfrm>
            <a:off x="14769496" y="2450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5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4769496" y="3350000"/>
            <a:ext cx="2724135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2300" b="1" i="0">
                <a:solidFill>
                  <a:srgbClr val="1B4A4A"/>
                </a:solidFill>
                <a:latin typeface="Cambria"/>
                <a:cs typeface="Cambria"/>
              </a:rPr>
              <a:t>Interviews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14769496" y="4300000"/>
            <a:ext cx="2724135" cy="3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dirty="0" sz="1800" b="1" i="0">
                <a:solidFill>
                  <a:srgbClr val="D98E3C"/>
                </a:solidFill>
                <a:latin typeface="Calibri"/>
                <a:cs typeface="Calibri"/>
              </a:rPr>
              <a:t>Add: </a:t>
            </a: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Schedule a round with interviewer and result</a:t>
            </a:r>
          </a:p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D98E3C"/>
                </a:solidFill>
                <a:latin typeface="Calibri"/>
                <a:cs typeface="Calibri"/>
              </a:rPr>
              <a:t>View: </a:t>
            </a: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View interviews with a 5-table JOIN</a:t>
            </a:r>
          </a:p>
        </p:txBody>
      </p:sp>
      <p:sp>
        <p:nvSpPr>
          <p:cNvPr id="24" name="Banner 24"/>
          <p:cNvSpPr/>
          <p:nvPr/>
        </p:nvSpPr>
        <p:spPr>
          <a:xfrm>
            <a:off x="822956" y="8150000"/>
            <a:ext cx="16870679" cy="1250000"/>
          </a:xfrm>
          <a:prstGeom prst="roundRect">
            <a:avLst>
              <a:gd name="adj" fmla="val 10972"/>
            </a:avLst>
          </a:prstGeom>
          <a:solidFill>
            <a:srgbClr val="1B4A4A"/>
          </a:solidFill>
          <a:ln>
            <a:noFill/>
          </a:ln>
        </p:spPr>
        <p:txBody>
          <a:bodyPr wrap="square" lIns="300000" tIns="300000" rIns="300000" bIns="30000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2000" b="1" i="0">
                <a:solidFill>
                  <a:srgbClr val="D98E3C"/>
                </a:solidFill>
                <a:latin typeface="Calibri"/>
                <a:cs typeface="Calibri"/>
              </a:rPr>
              <a:t>Flow: </a:t>
            </a:r>
            <a:r>
              <a:rPr lang="en-US" dirty="0" sz="2000" b="0" i="0">
                <a:solidFill>
                  <a:srgbClr val="FFFFFF"/>
                </a:solidFill>
                <a:latin typeface="Calibri"/>
                <a:cs typeface="Calibri"/>
              </a:rPr>
              <a:t>company, job posting, student, application, interview. Each add screen lists the valid IDs first.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10259" y="509185"/>
            <a:ext cx="120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 spc="225">
                <a:solidFill>
                  <a:srgbClr val="D98E3C"/>
                </a:solidFill>
                <a:latin typeface="Calibri"/>
                <a:cs typeface="Calibri"/>
              </a:rPr>
              <a:t>HOW THE CODE KEEPS DATA SAFE</a:t>
            </a:r>
          </a:p>
        </p:txBody>
      </p:sp>
      <p:sp>
        <p:nvSpPr>
          <p:cNvPr id="3" name="Title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3315" rIns="0" bIns="0" rtlCol="0" vert="horz">
            <a:spAutoFit/>
          </a:bodyPr>
          <a:lstStyle/>
          <a:p>
            <a:pPr marL="12700"/>
            <a:r>
              <a:rPr lang="en-US" dirty="0" spc="-25">
                <a:latin typeface="Cambria"/>
                <a:cs typeface="Cambria"/>
              </a:rPr>
              <a:t>Implementation Highlights</a:t>
            </a:r>
          </a:p>
        </p:txBody>
      </p:sp>
      <p:sp>
        <p:nvSpPr>
          <p:cNvPr id="4" name="Card 4"/>
          <p:cNvSpPr/>
          <p:nvPr/>
        </p:nvSpPr>
        <p:spPr>
          <a:xfrm>
            <a:off x="822956" y="2200000"/>
            <a:ext cx="5423559" cy="3200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5" name="Number 5"/>
          <p:cNvSpPr/>
          <p:nvPr/>
        </p:nvSpPr>
        <p:spPr>
          <a:xfrm>
            <a:off x="1072956" y="2450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1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922956" y="2450000"/>
            <a:ext cx="412355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2300" b="1" i="0">
                <a:solidFill>
                  <a:srgbClr val="1B4A4A"/>
                </a:solidFill>
                <a:latin typeface="Cambria"/>
                <a:cs typeface="Cambria"/>
              </a:rPr>
              <a:t>Parameterized Queries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1072956" y="3400000"/>
            <a:ext cx="4923559" cy="1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Every INSERT uses %s placeholders, which protects against SQL injection</a:t>
            </a:r>
          </a:p>
        </p:txBody>
      </p:sp>
      <p:sp>
        <p:nvSpPr>
          <p:cNvPr id="8" name="Card 8"/>
          <p:cNvSpPr/>
          <p:nvPr/>
        </p:nvSpPr>
        <p:spPr>
          <a:xfrm>
            <a:off x="6546515" y="2200000"/>
            <a:ext cx="5423559" cy="3200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9" name="Number 9"/>
          <p:cNvSpPr/>
          <p:nvPr/>
        </p:nvSpPr>
        <p:spPr>
          <a:xfrm>
            <a:off x="6796515" y="2450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2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7646515" y="2450000"/>
            <a:ext cx="412355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2300" b="1" i="0">
                <a:solidFill>
                  <a:srgbClr val="1B4A4A"/>
                </a:solidFill>
                <a:latin typeface="Cambria"/>
                <a:cs typeface="Cambria"/>
              </a:rPr>
              <a:t>Commit After Writes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6796515" y="3400000"/>
            <a:ext cx="4923559" cy="1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conn.commit() saves each change; failed inserts leave the data unchanged</a:t>
            </a:r>
          </a:p>
        </p:txBody>
      </p:sp>
      <p:sp>
        <p:nvSpPr>
          <p:cNvPr id="12" name="Card 12"/>
          <p:cNvSpPr/>
          <p:nvPr/>
        </p:nvSpPr>
        <p:spPr>
          <a:xfrm>
            <a:off x="12270074" y="2200000"/>
            <a:ext cx="5423559" cy="3200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3" name="Number 13"/>
          <p:cNvSpPr/>
          <p:nvPr/>
        </p:nvSpPr>
        <p:spPr>
          <a:xfrm>
            <a:off x="12520074" y="2450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3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3370074" y="2450000"/>
            <a:ext cx="412355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2300" b="1" i="0">
                <a:solidFill>
                  <a:srgbClr val="1B4A4A"/>
                </a:solidFill>
                <a:latin typeface="Cambria"/>
                <a:cs typeface="Cambria"/>
              </a:rPr>
              <a:t>Error Handling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2520074" y="3400000"/>
            <a:ext cx="4923559" cy="1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try / except / finally on every function, and cursors are always closed</a:t>
            </a:r>
          </a:p>
        </p:txBody>
      </p:sp>
      <p:sp>
        <p:nvSpPr>
          <p:cNvPr id="16" name="Card 16"/>
          <p:cNvSpPr/>
          <p:nvPr/>
        </p:nvSpPr>
        <p:spPr>
          <a:xfrm>
            <a:off x="822956" y="5700000"/>
            <a:ext cx="5423559" cy="3200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7" name="Number 17"/>
          <p:cNvSpPr/>
          <p:nvPr/>
        </p:nvSpPr>
        <p:spPr>
          <a:xfrm>
            <a:off x="1072956" y="5950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4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922956" y="5950000"/>
            <a:ext cx="412355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2300" b="1" i="0">
                <a:solidFill>
                  <a:srgbClr val="1B4A4A"/>
                </a:solidFill>
                <a:latin typeface="Cambria"/>
                <a:cs typeface="Cambria"/>
              </a:rPr>
              <a:t>Multi-table JOINs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1072956" y="6900000"/>
            <a:ext cx="4923559" cy="1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Readable reports show names instead of raw IDs across up to 5 tables</a:t>
            </a:r>
          </a:p>
        </p:txBody>
      </p:sp>
      <p:sp>
        <p:nvSpPr>
          <p:cNvPr id="20" name="Card 20"/>
          <p:cNvSpPr/>
          <p:nvPr/>
        </p:nvSpPr>
        <p:spPr>
          <a:xfrm>
            <a:off x="6546515" y="5700000"/>
            <a:ext cx="5423559" cy="3200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21" name="Number 21"/>
          <p:cNvSpPr/>
          <p:nvPr/>
        </p:nvSpPr>
        <p:spPr>
          <a:xfrm>
            <a:off x="6796515" y="5950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5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7646515" y="5950000"/>
            <a:ext cx="412355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2300" b="1" i="0">
                <a:solidFill>
                  <a:srgbClr val="1B4A4A"/>
                </a:solidFill>
                <a:latin typeface="Cambria"/>
                <a:cs typeface="Cambria"/>
              </a:rPr>
              <a:t>Guided Input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796515" y="6900000"/>
            <a:ext cx="4923559" cy="1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Valid students, companies and jobs are listed before an ID is requested</a:t>
            </a:r>
          </a:p>
        </p:txBody>
      </p:sp>
      <p:sp>
        <p:nvSpPr>
          <p:cNvPr id="24" name="Card 24"/>
          <p:cNvSpPr/>
          <p:nvPr/>
        </p:nvSpPr>
        <p:spPr>
          <a:xfrm>
            <a:off x="12270074" y="5700000"/>
            <a:ext cx="5423559" cy="3200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25" name="Number 25"/>
          <p:cNvSpPr/>
          <p:nvPr/>
        </p:nvSpPr>
        <p:spPr>
          <a:xfrm>
            <a:off x="12520074" y="5950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6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13370074" y="5950000"/>
            <a:ext cx="412355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2300" b="1" i="0">
                <a:solidFill>
                  <a:srgbClr val="1B4A4A"/>
                </a:solidFill>
                <a:latin typeface="Cambria"/>
                <a:cs typeface="Cambria"/>
              </a:rPr>
              <a:t>Type Validation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12520074" y="6900000"/>
            <a:ext cx="4923559" cy="1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Numbers are checked with ValueError messages; the database rejects bad data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10259" y="509185"/>
            <a:ext cx="120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 spc="225">
                <a:solidFill>
                  <a:srgbClr val="D98E3C"/>
                </a:solidFill>
                <a:latin typeface="Calibri"/>
                <a:cs typeface="Calibri"/>
              </a:rPr>
              <a:t>LIVE DEMO</a:t>
            </a:r>
          </a:p>
        </p:txBody>
      </p:sp>
      <p:sp>
        <p:nvSpPr>
          <p:cNvPr id="3" name="Title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3315" rIns="0" bIns="0" rtlCol="0" vert="horz">
            <a:spAutoFit/>
          </a:bodyPr>
          <a:lstStyle/>
          <a:p>
            <a:pPr marL="12700"/>
            <a:r>
              <a:rPr lang="en-US" dirty="0" spc="-25">
                <a:latin typeface="Cambria"/>
                <a:cs typeface="Cambria"/>
              </a:rPr>
              <a:t>Final Demonstration</a:t>
            </a:r>
          </a:p>
        </p:txBody>
      </p:sp>
      <p:sp>
        <p:nvSpPr>
          <p:cNvPr id="4" name="Header 4"/>
          <p:cNvSpPr/>
          <p:nvPr/>
        </p:nvSpPr>
        <p:spPr>
          <a:xfrm>
            <a:off x="822956" y="2150000"/>
            <a:ext cx="16870679" cy="650000"/>
          </a:xfrm>
          <a:prstGeom prst="roundRect">
            <a:avLst>
              <a:gd name="adj" fmla="val 21101"/>
            </a:avLst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1122956" y="2150000"/>
            <a:ext cx="50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FFFFFF"/>
                </a:solidFill>
                <a:latin typeface="Calibri"/>
                <a:cs typeface="Calibri"/>
              </a:rPr>
              <a:t>Step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2122956" y="2150000"/>
            <a:ext cx="50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322956" y="2150000"/>
            <a:ext cx="50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FFFFFF"/>
                </a:solidFill>
                <a:latin typeface="Calibri"/>
                <a:cs typeface="Calibri"/>
              </a:rPr>
              <a:t>Menu option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9322956" y="2150000"/>
            <a:ext cx="50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FFFFFF"/>
                </a:solidFill>
                <a:latin typeface="Calibri"/>
                <a:cs typeface="Calibri"/>
              </a:rPr>
              <a:t>System response</a:t>
            </a:r>
          </a:p>
        </p:txBody>
      </p:sp>
      <p:sp>
        <p:nvSpPr>
          <p:cNvPr id="9" name="Card 9"/>
          <p:cNvSpPr/>
          <p:nvPr/>
        </p:nvSpPr>
        <p:spPr>
          <a:xfrm>
            <a:off x="822956" y="2900000"/>
            <a:ext cx="16870679" cy="900000"/>
          </a:xfrm>
          <a:prstGeom prst="roundRect">
            <a:avLst>
              <a:gd name="adj" fmla="val 1524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0" name="Number 10"/>
          <p:cNvSpPr/>
          <p:nvPr/>
        </p:nvSpPr>
        <p:spPr>
          <a:xfrm>
            <a:off x="1022956" y="3007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1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2122956" y="2900000"/>
            <a:ext cx="52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Add a company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7322956" y="2900000"/>
            <a:ext cx="2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9322956" y="2900000"/>
            <a:ext cx="8170679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Company added successfully</a:t>
            </a:r>
          </a:p>
        </p:txBody>
      </p:sp>
      <p:sp>
        <p:nvSpPr>
          <p:cNvPr id="14" name="Card 14"/>
          <p:cNvSpPr/>
          <p:nvPr/>
        </p:nvSpPr>
        <p:spPr>
          <a:xfrm>
            <a:off x="822956" y="3950000"/>
            <a:ext cx="16870679" cy="900000"/>
          </a:xfrm>
          <a:prstGeom prst="roundRect">
            <a:avLst>
              <a:gd name="adj" fmla="val 1524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5" name="Number 15"/>
          <p:cNvSpPr/>
          <p:nvPr/>
        </p:nvSpPr>
        <p:spPr>
          <a:xfrm>
            <a:off x="1022956" y="4057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2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2122956" y="3950000"/>
            <a:ext cx="52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Add a job posting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7322956" y="3950000"/>
            <a:ext cx="2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9322956" y="3950000"/>
            <a:ext cx="8170679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Job added successfully</a:t>
            </a:r>
          </a:p>
        </p:txBody>
      </p:sp>
      <p:sp>
        <p:nvSpPr>
          <p:cNvPr id="19" name="Card 19"/>
          <p:cNvSpPr/>
          <p:nvPr/>
        </p:nvSpPr>
        <p:spPr>
          <a:xfrm>
            <a:off x="822956" y="5000000"/>
            <a:ext cx="16870679" cy="900000"/>
          </a:xfrm>
          <a:prstGeom prst="roundRect">
            <a:avLst>
              <a:gd name="adj" fmla="val 1524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20" name="Number 20"/>
          <p:cNvSpPr/>
          <p:nvPr/>
        </p:nvSpPr>
        <p:spPr>
          <a:xfrm>
            <a:off x="1022956" y="5107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3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122956" y="5000000"/>
            <a:ext cx="52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Add a student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7322956" y="5000000"/>
            <a:ext cx="2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9322956" y="5000000"/>
            <a:ext cx="8170679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Student added successfully</a:t>
            </a:r>
          </a:p>
        </p:txBody>
      </p:sp>
      <p:sp>
        <p:nvSpPr>
          <p:cNvPr id="24" name="Card 24"/>
          <p:cNvSpPr/>
          <p:nvPr/>
        </p:nvSpPr>
        <p:spPr>
          <a:xfrm>
            <a:off x="822956" y="6050000"/>
            <a:ext cx="16870679" cy="900000"/>
          </a:xfrm>
          <a:prstGeom prst="roundRect">
            <a:avLst>
              <a:gd name="adj" fmla="val 1524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25" name="Number 25"/>
          <p:cNvSpPr/>
          <p:nvPr/>
        </p:nvSpPr>
        <p:spPr>
          <a:xfrm>
            <a:off x="1022956" y="6157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4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2122956" y="6050000"/>
            <a:ext cx="52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Apply for the job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7322956" y="6050000"/>
            <a:ext cx="2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9322956" y="6050000"/>
            <a:ext cx="8170679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Application submitted successfully</a:t>
            </a:r>
          </a:p>
        </p:txBody>
      </p:sp>
      <p:sp>
        <p:nvSpPr>
          <p:cNvPr id="29" name="Card 29"/>
          <p:cNvSpPr/>
          <p:nvPr/>
        </p:nvSpPr>
        <p:spPr>
          <a:xfrm>
            <a:off x="822956" y="7100000"/>
            <a:ext cx="16870679" cy="900000"/>
          </a:xfrm>
          <a:prstGeom prst="roundRect">
            <a:avLst>
              <a:gd name="adj" fmla="val 1524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30" name="Number 30"/>
          <p:cNvSpPr/>
          <p:nvPr/>
        </p:nvSpPr>
        <p:spPr>
          <a:xfrm>
            <a:off x="1022956" y="7207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5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2122956" y="7100000"/>
            <a:ext cx="52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Schedule an interview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7322956" y="7100000"/>
            <a:ext cx="2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9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9322956" y="7100000"/>
            <a:ext cx="8170679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Interview scheduled successfully</a:t>
            </a:r>
          </a:p>
        </p:txBody>
      </p:sp>
      <p:sp>
        <p:nvSpPr>
          <p:cNvPr id="34" name="Card 34"/>
          <p:cNvSpPr/>
          <p:nvPr/>
        </p:nvSpPr>
        <p:spPr>
          <a:xfrm>
            <a:off x="822956" y="8150000"/>
            <a:ext cx="16870679" cy="900000"/>
          </a:xfrm>
          <a:prstGeom prst="roundRect">
            <a:avLst>
              <a:gd name="adj" fmla="val 1524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35" name="Number 35"/>
          <p:cNvSpPr/>
          <p:nvPr/>
        </p:nvSpPr>
        <p:spPr>
          <a:xfrm>
            <a:off x="1022956" y="8257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6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2122956" y="8150000"/>
            <a:ext cx="52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View joined reports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7322956" y="8150000"/>
            <a:ext cx="20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8, 10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9322956" y="8150000"/>
            <a:ext cx="8170679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Application and interview lists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10259" y="509185"/>
            <a:ext cx="120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 spc="225">
                <a:solidFill>
                  <a:srgbClr val="D98E3C"/>
                </a:solidFill>
                <a:latin typeface="Calibri"/>
                <a:cs typeface="Calibri"/>
              </a:rPr>
              <a:t>EXPECTED BEHAVIOUR OF THE SYSTEM</a:t>
            </a:r>
          </a:p>
        </p:txBody>
      </p:sp>
      <p:sp>
        <p:nvSpPr>
          <p:cNvPr id="3" name="Title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3315" rIns="0" bIns="0" rtlCol="0" vert="horz">
            <a:spAutoFit/>
          </a:bodyPr>
          <a:lstStyle/>
          <a:p>
            <a:pPr marL="12700"/>
            <a:r>
              <a:rPr lang="en-US" dirty="0" spc="-25">
                <a:latin typeface="Cambria"/>
                <a:cs typeface="Cambria"/>
              </a:rPr>
              <a:t>Testing &amp; Validation</a:t>
            </a:r>
          </a:p>
        </p:txBody>
      </p:sp>
      <p:sp>
        <p:nvSpPr>
          <p:cNvPr id="4" name="Header 4"/>
          <p:cNvSpPr/>
          <p:nvPr/>
        </p:nvSpPr>
        <p:spPr>
          <a:xfrm>
            <a:off x="822956" y="2150000"/>
            <a:ext cx="16870679" cy="650000"/>
          </a:xfrm>
          <a:prstGeom prst="roundRect">
            <a:avLst>
              <a:gd name="adj" fmla="val 21101"/>
            </a:avLst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1122956" y="2150000"/>
            <a:ext cx="60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FFFFFF"/>
                </a:solidFill>
                <a:latin typeface="Calibri"/>
                <a:cs typeface="Calibri"/>
              </a:rPr>
              <a:t>Test case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122956" y="2150000"/>
            <a:ext cx="80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FFFFFF"/>
                </a:solidFill>
                <a:latin typeface="Calibri"/>
                <a:cs typeface="Calibri"/>
              </a:rPr>
              <a:t>Expected result</a:t>
            </a:r>
          </a:p>
        </p:txBody>
      </p:sp>
      <p:sp>
        <p:nvSpPr>
          <p:cNvPr id="7" name="Card 7"/>
          <p:cNvSpPr/>
          <p:nvPr/>
        </p:nvSpPr>
        <p:spPr>
          <a:xfrm>
            <a:off x="822956" y="2900000"/>
            <a:ext cx="16870679" cy="780000"/>
          </a:xfrm>
          <a:prstGeom prst="roundRect">
            <a:avLst>
              <a:gd name="adj" fmla="val 17584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1122956" y="2900000"/>
            <a:ext cx="57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Duplicate student email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122956" y="2900000"/>
            <a:ext cx="10270679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UNIQUE rejects it; error message shown</a:t>
            </a:r>
          </a:p>
        </p:txBody>
      </p:sp>
      <p:sp>
        <p:nvSpPr>
          <p:cNvPr id="10" name="Card 10"/>
          <p:cNvSpPr/>
          <p:nvPr/>
        </p:nvSpPr>
        <p:spPr>
          <a:xfrm>
            <a:off x="822956" y="3800000"/>
            <a:ext cx="16870679" cy="780000"/>
          </a:xfrm>
          <a:prstGeom prst="roundRect">
            <a:avLst>
              <a:gd name="adj" fmla="val 17584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1122956" y="3800000"/>
            <a:ext cx="57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CGPA outside 0 to 10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7122956" y="3800000"/>
            <a:ext cx="10270679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CHECK constraint rejects the insert</a:t>
            </a:r>
          </a:p>
        </p:txBody>
      </p:sp>
      <p:sp>
        <p:nvSpPr>
          <p:cNvPr id="13" name="Card 13"/>
          <p:cNvSpPr/>
          <p:nvPr/>
        </p:nvSpPr>
        <p:spPr>
          <a:xfrm>
            <a:off x="822956" y="4700000"/>
            <a:ext cx="16870679" cy="780000"/>
          </a:xfrm>
          <a:prstGeom prst="roundRect">
            <a:avLst>
              <a:gd name="adj" fmla="val 17584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1122956" y="4700000"/>
            <a:ext cx="57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Text entered for package or CGPA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7122956" y="4700000"/>
            <a:ext cx="10270679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Invalid input message; nothing saved</a:t>
            </a:r>
          </a:p>
        </p:txBody>
      </p:sp>
      <p:sp>
        <p:nvSpPr>
          <p:cNvPr id="16" name="Card 16"/>
          <p:cNvSpPr/>
          <p:nvPr/>
        </p:nvSpPr>
        <p:spPr>
          <a:xfrm>
            <a:off x="822956" y="5600000"/>
            <a:ext cx="16870679" cy="780000"/>
          </a:xfrm>
          <a:prstGeom prst="roundRect">
            <a:avLst>
              <a:gd name="adj" fmla="val 17584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7" name="Text 17"/>
          <p:cNvSpPr txBox="1"/>
          <p:nvPr/>
        </p:nvSpPr>
        <p:spPr>
          <a:xfrm>
            <a:off x="1122956" y="5600000"/>
            <a:ext cx="57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Job for a missing company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7122956" y="5600000"/>
            <a:ext cx="10270679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Foreign key blocks the insert</a:t>
            </a:r>
          </a:p>
        </p:txBody>
      </p:sp>
      <p:sp>
        <p:nvSpPr>
          <p:cNvPr id="19" name="Card 19"/>
          <p:cNvSpPr/>
          <p:nvPr/>
        </p:nvSpPr>
        <p:spPr>
          <a:xfrm>
            <a:off x="822956" y="6500000"/>
            <a:ext cx="16870679" cy="780000"/>
          </a:xfrm>
          <a:prstGeom prst="roundRect">
            <a:avLst>
              <a:gd name="adj" fmla="val 17584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20" name="Text 20"/>
          <p:cNvSpPr txBox="1"/>
          <p:nvPr/>
        </p:nvSpPr>
        <p:spPr>
          <a:xfrm>
            <a:off x="1122956" y="6500000"/>
            <a:ext cx="57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Application with no students or jobs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7122956" y="6500000"/>
            <a:ext cx="10270679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Warning shown; asks to add them first</a:t>
            </a:r>
          </a:p>
        </p:txBody>
      </p:sp>
      <p:sp>
        <p:nvSpPr>
          <p:cNvPr id="22" name="Card 22"/>
          <p:cNvSpPr/>
          <p:nvPr/>
        </p:nvSpPr>
        <p:spPr>
          <a:xfrm>
            <a:off x="822956" y="7400000"/>
            <a:ext cx="16870679" cy="780000"/>
          </a:xfrm>
          <a:prstGeom prst="roundRect">
            <a:avLst>
              <a:gd name="adj" fmla="val 17584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23" name="Text 23"/>
          <p:cNvSpPr txBox="1"/>
          <p:nvPr/>
        </p:nvSpPr>
        <p:spPr>
          <a:xfrm>
            <a:off x="1122956" y="7400000"/>
            <a:ext cx="57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Viewing an empty table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7122956" y="7400000"/>
            <a:ext cx="10270679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Friendly "no records found" message</a:t>
            </a:r>
          </a:p>
        </p:txBody>
      </p:sp>
      <p:sp>
        <p:nvSpPr>
          <p:cNvPr id="25" name="Card 25"/>
          <p:cNvSpPr/>
          <p:nvPr/>
        </p:nvSpPr>
        <p:spPr>
          <a:xfrm>
            <a:off x="822956" y="8300000"/>
            <a:ext cx="16870679" cy="780000"/>
          </a:xfrm>
          <a:prstGeom prst="roundRect">
            <a:avLst>
              <a:gd name="adj" fmla="val 17584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26" name="Text 26"/>
          <p:cNvSpPr txBox="1"/>
          <p:nvPr/>
        </p:nvSpPr>
        <p:spPr>
          <a:xfrm>
            <a:off x="1122956" y="8300000"/>
            <a:ext cx="57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Deleting a company in the database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7122956" y="8300000"/>
            <a:ext cx="10270679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Its job postings are removed by CASCADE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10259" y="509185"/>
            <a:ext cx="120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 spc="225">
                <a:solidFill>
                  <a:srgbClr val="D98E3C"/>
                </a:solidFill>
                <a:latin typeface="Calibri"/>
                <a:cs typeface="Calibri"/>
              </a:rPr>
              <a:t>SCOPE AND FUTURE WORK</a:t>
            </a:r>
          </a:p>
        </p:txBody>
      </p:sp>
      <p:sp>
        <p:nvSpPr>
          <p:cNvPr id="3" name="Title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3315" rIns="0" bIns="0" rtlCol="0" vert="horz">
            <a:spAutoFit/>
          </a:bodyPr>
          <a:lstStyle/>
          <a:p>
            <a:pPr marL="12700"/>
            <a:r>
              <a:rPr lang="en-US" dirty="0" spc="-25">
                <a:latin typeface="Cambria"/>
                <a:cs typeface="Cambria"/>
              </a:rPr>
              <a:t>Limitations &amp; Conclusion</a:t>
            </a:r>
          </a:p>
        </p:txBody>
      </p:sp>
      <p:sp>
        <p:nvSpPr>
          <p:cNvPr id="4" name="Card 4"/>
          <p:cNvSpPr/>
          <p:nvPr/>
        </p:nvSpPr>
        <p:spPr>
          <a:xfrm>
            <a:off x="822956" y="2150000"/>
            <a:ext cx="8700000" cy="1250000"/>
          </a:xfrm>
          <a:prstGeom prst="roundRect">
            <a:avLst>
              <a:gd name="adj" fmla="val 10972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5" name="Number 5"/>
          <p:cNvSpPr/>
          <p:nvPr/>
        </p:nvSpPr>
        <p:spPr>
          <a:xfrm>
            <a:off x="1072956" y="2432000"/>
            <a:ext cx="685800" cy="685800"/>
          </a:xfrm>
          <a:prstGeom prst="ellipse">
            <a:avLst/>
          </a:prstGeom>
          <a:solidFill>
            <a:srgbClr val="D98E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1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972956" y="2150000"/>
            <a:ext cx="730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Console interface only; a web or GUI front end can follow</a:t>
            </a:r>
          </a:p>
        </p:txBody>
      </p:sp>
      <p:sp>
        <p:nvSpPr>
          <p:cNvPr id="7" name="Card 7"/>
          <p:cNvSpPr/>
          <p:nvPr/>
        </p:nvSpPr>
        <p:spPr>
          <a:xfrm>
            <a:off x="822956" y="3600000"/>
            <a:ext cx="8700000" cy="1250000"/>
          </a:xfrm>
          <a:prstGeom prst="roundRect">
            <a:avLst>
              <a:gd name="adj" fmla="val 10972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8" name="Number 8"/>
          <p:cNvSpPr/>
          <p:nvPr/>
        </p:nvSpPr>
        <p:spPr>
          <a:xfrm>
            <a:off x="1072956" y="3882000"/>
            <a:ext cx="685800" cy="685800"/>
          </a:xfrm>
          <a:prstGeom prst="ellipse">
            <a:avLst/>
          </a:prstGeom>
          <a:solidFill>
            <a:srgbClr val="D98E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2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972956" y="3600000"/>
            <a:ext cx="730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No update or delete screens in the application</a:t>
            </a:r>
          </a:p>
        </p:txBody>
      </p:sp>
      <p:sp>
        <p:nvSpPr>
          <p:cNvPr id="10" name="Card 10"/>
          <p:cNvSpPr/>
          <p:nvPr/>
        </p:nvSpPr>
        <p:spPr>
          <a:xfrm>
            <a:off x="822956" y="5050000"/>
            <a:ext cx="8700000" cy="1250000"/>
          </a:xfrm>
          <a:prstGeom prst="roundRect">
            <a:avLst>
              <a:gd name="adj" fmla="val 10972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1" name="Number 11"/>
          <p:cNvSpPr/>
          <p:nvPr/>
        </p:nvSpPr>
        <p:spPr>
          <a:xfrm>
            <a:off x="1072956" y="5332000"/>
            <a:ext cx="685800" cy="685800"/>
          </a:xfrm>
          <a:prstGeom prst="ellipse">
            <a:avLst/>
          </a:prstGeom>
          <a:solidFill>
            <a:srgbClr val="D98E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3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972956" y="5050000"/>
            <a:ext cx="730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Minimum CGPA is stored but not enforced when applying</a:t>
            </a:r>
          </a:p>
        </p:txBody>
      </p:sp>
      <p:sp>
        <p:nvSpPr>
          <p:cNvPr id="13" name="Card 13"/>
          <p:cNvSpPr/>
          <p:nvPr/>
        </p:nvSpPr>
        <p:spPr>
          <a:xfrm>
            <a:off x="822956" y="6500000"/>
            <a:ext cx="8700000" cy="1250000"/>
          </a:xfrm>
          <a:prstGeom prst="roundRect">
            <a:avLst>
              <a:gd name="adj" fmla="val 10972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4" name="Number 14"/>
          <p:cNvSpPr/>
          <p:nvPr/>
        </p:nvSpPr>
        <p:spPr>
          <a:xfrm>
            <a:off x="1072956" y="6782000"/>
            <a:ext cx="685800" cy="685800"/>
          </a:xfrm>
          <a:prstGeom prst="ellipse">
            <a:avLst/>
          </a:prstGeom>
          <a:solidFill>
            <a:srgbClr val="D98E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4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972956" y="6500000"/>
            <a:ext cx="730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No reports or offers table; student status is not auto-updated</a:t>
            </a:r>
          </a:p>
        </p:txBody>
      </p:sp>
      <p:sp>
        <p:nvSpPr>
          <p:cNvPr id="16" name="Card 16"/>
          <p:cNvSpPr/>
          <p:nvPr/>
        </p:nvSpPr>
        <p:spPr>
          <a:xfrm>
            <a:off x="822956" y="7950000"/>
            <a:ext cx="8700000" cy="1250000"/>
          </a:xfrm>
          <a:prstGeom prst="roundRect">
            <a:avLst>
              <a:gd name="adj" fmla="val 10972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7" name="Number 17"/>
          <p:cNvSpPr/>
          <p:nvPr/>
        </p:nvSpPr>
        <p:spPr>
          <a:xfrm>
            <a:off x="1072956" y="8232000"/>
            <a:ext cx="685800" cy="685800"/>
          </a:xfrm>
          <a:prstGeom prst="ellipse">
            <a:avLst/>
          </a:prstGeom>
          <a:solidFill>
            <a:srgbClr val="D98E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5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972956" y="7950000"/>
            <a:ext cx="730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No login or role-based access for admin, student, recruiter</a:t>
            </a:r>
          </a:p>
        </p:txBody>
      </p:sp>
      <p:sp>
        <p:nvSpPr>
          <p:cNvPr id="19" name="Conclusion 19"/>
          <p:cNvSpPr/>
          <p:nvPr/>
        </p:nvSpPr>
        <p:spPr>
          <a:xfrm>
            <a:off x="9972956" y="2150000"/>
            <a:ext cx="7720679" cy="7050000"/>
          </a:xfrm>
          <a:prstGeom prst="roundRect">
            <a:avLst>
              <a:gd name="adj" fmla="val 1945"/>
            </a:avLst>
          </a:prstGeom>
          <a:solidFill>
            <a:srgbClr val="1B4A4A"/>
          </a:solidFill>
          <a:ln>
            <a:noFill/>
          </a:ln>
        </p:spPr>
        <p:txBody>
          <a:bodyPr wrap="square" lIns="400000" tIns="400000" rIns="400000" bIns="400000" rtlCol="0" anchor="t">
            <a:no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dirty="0" sz="1800" b="1" i="0" spc="225">
                <a:solidFill>
                  <a:srgbClr val="D98E3C"/>
                </a:solidFill>
                <a:latin typeface="Calibri"/>
                <a:cs typeface="Calibri"/>
              </a:rPr>
              <a:t>CONCLUSION</a:t>
            </a:r>
          </a:p>
          <a:p>
            <a:pPr algn="l">
              <a:spcAft>
                <a:spcPts val="1800"/>
              </a:spcAft>
              <a:buNone/>
            </a:pPr>
            <a:r>
              <a:rPr lang="en-US" dirty="0" sz="2200" b="0" i="0">
                <a:solidFill>
                  <a:srgbClr val="FFFFFF"/>
                </a:solidFill>
                <a:latin typeface="Calibri"/>
                <a:cs typeface="Calibri"/>
              </a:rPr>
              <a:t>The Campus Placement and Recruitment Drive Management System replaces scattered records with one structured, consistent database and a working application on top of it.</a:t>
            </a:r>
          </a:p>
          <a:p>
            <a:pPr algn="l">
              <a:spcAft>
                <a:spcPts val="600"/>
              </a:spcAft>
              <a:buNone/>
            </a:pPr>
            <a:r>
              <a:rPr lang="en-US" dirty="0" sz="3600" b="1" i="0">
                <a:solidFill>
                  <a:srgbClr val="FFFFFF"/>
                </a:solidFill>
                <a:latin typeface="Cambria"/>
                <a:cs typeface="Cambria"/>
              </a:rPr>
              <a:t>Thank You</a:t>
            </a:r>
          </a:p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BBD8CC"/>
                </a:solidFill>
                <a:latin typeface="Calibri"/>
                <a:cs typeface="Calibri"/>
              </a:rPr>
              <a:t>Farhan Ansari  •  AIML RHINOS  •  25WU0102074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2026-09-07T18:05:16Z</dcterms:created>
  <dcterms:modified xsi:type="dcterms:W3CDTF">2026-09-07T18:05:16Z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v10.0.19912.1</vt:lpwstr>
  </property>
  <property fmtid="{D5CDD505-2E9C-101B-9397-08002B2CF9AE}" pid="3" name="Created">
    <vt:filetime>2026-09-07T00:00:00Z</vt:filetime>
  </property>
  <property fmtid="{D5CDD505-2E9C-101B-9397-08002B2CF9AE}" pid="4" name="CreationClient">
    <vt:lpwstr>pptx-direct-import</vt:lpwstr>
  </property>
  <property fmtid="{D5CDD505-2E9C-101B-9397-08002B2CF9AE}" pid="5" name="Creator">
    <vt:lpwstr>Adobe Express</vt:lpwstr>
  </property>
  <property fmtid="{D5CDD505-2E9C-101B-9397-08002B2CF9AE}" pid="6" name="LastSaved">
    <vt:filetime>2026-09-07T00:00:00Z</vt:filetime>
  </property>
  <property fmtid="{D5CDD505-2E9C-101B-9397-08002B2CF9AE}" pid="7" name="Producer">
    <vt:lpwstr>Adobe Express</vt:lpwstr>
  </property>
</Properties>
</file>