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docProps/custom.xml" ContentType="application/vnd.openxmlformats-officedocument.custom-properties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  <Relationship Id="rId22" Type="http://schemas.openxmlformats.org/officeDocument/2006/relationships/slide" Target="slides/slide17.xml"/>
  <Relationship Id="rId23" Type="http://schemas.openxmlformats.org/officeDocument/2006/relationships/slide" Target="slides/slide18.xml"/>
  <Relationship Id="rId24" Type="http://schemas.openxmlformats.org/officeDocument/2006/relationships/slide" Target="slides/slide19.xml"/>
  <Relationship Id="rId25" Type="http://schemas.openxmlformats.org/officeDocument/2006/relationships/slide" Target="slides/slide20.xml"/>
  <Relationship Id="rId26" Type="http://schemas.openxmlformats.org/officeDocument/2006/relationships/slide" Target="slides/slide21.xml"/>
  <Relationship Id="rId27" Type="http://schemas.openxmlformats.org/officeDocument/2006/relationships/slide" Target="slides/slide22.xml"/>
  <Relationship Id="rId28" Type="http://schemas.openxmlformats.org/officeDocument/2006/relationships/slide" Target="slides/slide23.xml"/>
  <Relationship Id="rId29" Type="http://schemas.openxmlformats.org/officeDocument/2006/relationships/slide" Target="slides/slide24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1B4A4A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1B4A4A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1B4A4A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10258" y="1814843"/>
            <a:ext cx="7643495" cy="6619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1F332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1B4A4A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BBD8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10258" y="810253"/>
            <a:ext cx="8038466" cy="10109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1B4A4A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75334" y="2116454"/>
            <a:ext cx="8324850" cy="3702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0220" rIns="0" bIns="0" rtlCol="0" vert="horz">
            <a:spAutoFit/>
          </a:bodyPr>
          <a:lstStyle/>
          <a:p>
            <a:pPr marL="287020">
              <a:lnSpc>
                <a:spcPct val="100000"/>
              </a:lnSpc>
              <a:spcBef>
                <a:spcPts val="100"/>
              </a:spcBef>
            </a:pPr>
            <a:r>
              <a:rPr dirty="0" sz="3900" b="0">
                <a:latin typeface="Cambria"/>
                <a:cs typeface="Cambria"/>
              </a:rPr>
              <a:t>DBMS – PBL  |  Review 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580" y="2652578"/>
            <a:ext cx="8154670" cy="3020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9200"/>
              </a:lnSpc>
              <a:spcBef>
                <a:spcPts val="95"/>
              </a:spcBef>
            </a:pPr>
            <a:r>
              <a:rPr dirty="0" sz="6000" b="1">
                <a:solidFill>
                  <a:srgbClr val="1B4A4A"/>
                </a:solidFill>
                <a:latin typeface="Cambria"/>
                <a:cs typeface="Cambria"/>
              </a:rPr>
              <a:t>Campus</a:t>
            </a:r>
            <a:r>
              <a:rPr dirty="0" sz="6000" spc="-260" b="1">
                <a:solidFill>
                  <a:srgbClr val="1B4A4A"/>
                </a:solidFill>
                <a:latin typeface="Cambria"/>
                <a:cs typeface="Cambria"/>
              </a:rPr>
              <a:t> </a:t>
            </a:r>
            <a:r>
              <a:rPr dirty="0" sz="6000" spc="-10" b="1">
                <a:solidFill>
                  <a:srgbClr val="1B4A4A"/>
                </a:solidFill>
                <a:latin typeface="Cambria"/>
                <a:cs typeface="Cambria"/>
              </a:rPr>
              <a:t>Placement</a:t>
            </a:r>
            <a:r>
              <a:rPr dirty="0" sz="6000" spc="-240" b="1">
                <a:solidFill>
                  <a:srgbClr val="1B4A4A"/>
                </a:solidFill>
                <a:latin typeface="Cambria"/>
                <a:cs typeface="Cambria"/>
              </a:rPr>
              <a:t> </a:t>
            </a:r>
            <a:r>
              <a:rPr dirty="0" sz="6000" spc="-25" b="1">
                <a:solidFill>
                  <a:srgbClr val="1B4A4A"/>
                </a:solidFill>
                <a:latin typeface="Cambria"/>
                <a:cs typeface="Cambria"/>
              </a:rPr>
              <a:t>and </a:t>
            </a:r>
            <a:r>
              <a:rPr dirty="0" sz="6000" b="1">
                <a:solidFill>
                  <a:srgbClr val="1B4A4A"/>
                </a:solidFill>
                <a:latin typeface="Cambria"/>
                <a:cs typeface="Cambria"/>
              </a:rPr>
              <a:t>Recruitment</a:t>
            </a:r>
            <a:r>
              <a:rPr dirty="0" sz="6000" spc="-235" b="1">
                <a:solidFill>
                  <a:srgbClr val="1B4A4A"/>
                </a:solidFill>
                <a:latin typeface="Cambria"/>
                <a:cs typeface="Cambria"/>
              </a:rPr>
              <a:t> </a:t>
            </a:r>
            <a:r>
              <a:rPr dirty="0" sz="6000" spc="-10" b="1">
                <a:solidFill>
                  <a:srgbClr val="1B4A4A"/>
                </a:solidFill>
                <a:latin typeface="Cambria"/>
                <a:cs typeface="Cambria"/>
              </a:rPr>
              <a:t>Drive Management</a:t>
            </a:r>
            <a:r>
              <a:rPr dirty="0" sz="6000" spc="-310" b="1">
                <a:solidFill>
                  <a:srgbClr val="1B4A4A"/>
                </a:solidFill>
                <a:latin typeface="Cambria"/>
                <a:cs typeface="Cambria"/>
              </a:rPr>
              <a:t> </a:t>
            </a:r>
            <a:r>
              <a:rPr dirty="0" sz="6000" spc="-10" b="1">
                <a:solidFill>
                  <a:srgbClr val="1B4A4A"/>
                </a:solidFill>
                <a:latin typeface="Cambria"/>
                <a:cs typeface="Cambria"/>
              </a:rPr>
              <a:t>System</a:t>
            </a:r>
            <a:endParaRPr sz="60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3400" y="7115175"/>
            <a:ext cx="8572500" cy="2914650"/>
            <a:chOff x="533400" y="7115175"/>
            <a:chExt cx="8572500" cy="29146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" y="7115175"/>
              <a:ext cx="8572500" cy="291465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55153" y="7199091"/>
              <a:ext cx="8329295" cy="2673985"/>
            </a:xfrm>
            <a:custGeom>
              <a:avLst/>
              <a:gdLst/>
              <a:ahLst/>
              <a:cxnLst/>
              <a:rect l="l" t="t" r="r" b="b"/>
              <a:pathLst>
                <a:path w="8329295" h="2673984">
                  <a:moveTo>
                    <a:pt x="7942376" y="0"/>
                  </a:moveTo>
                  <a:lnTo>
                    <a:pt x="392874" y="0"/>
                  </a:lnTo>
                  <a:lnTo>
                    <a:pt x="380022" y="152"/>
                  </a:lnTo>
                  <a:lnTo>
                    <a:pt x="341591" y="3314"/>
                  </a:lnTo>
                  <a:lnTo>
                    <a:pt x="303644" y="10210"/>
                  </a:lnTo>
                  <a:lnTo>
                    <a:pt x="266573" y="20802"/>
                  </a:lnTo>
                  <a:lnTo>
                    <a:pt x="230708" y="34975"/>
                  </a:lnTo>
                  <a:lnTo>
                    <a:pt x="196405" y="52590"/>
                  </a:lnTo>
                  <a:lnTo>
                    <a:pt x="163995" y="73482"/>
                  </a:lnTo>
                  <a:lnTo>
                    <a:pt x="133794" y="97459"/>
                  </a:lnTo>
                  <a:lnTo>
                    <a:pt x="106083" y="124269"/>
                  </a:lnTo>
                  <a:lnTo>
                    <a:pt x="81140" y="153682"/>
                  </a:lnTo>
                  <a:lnTo>
                    <a:pt x="59194" y="185381"/>
                  </a:lnTo>
                  <a:lnTo>
                    <a:pt x="40462" y="219087"/>
                  </a:lnTo>
                  <a:lnTo>
                    <a:pt x="25133" y="254469"/>
                  </a:lnTo>
                  <a:lnTo>
                    <a:pt x="13335" y="291185"/>
                  </a:lnTo>
                  <a:lnTo>
                    <a:pt x="5194" y="328866"/>
                  </a:lnTo>
                  <a:lnTo>
                    <a:pt x="787" y="367182"/>
                  </a:lnTo>
                  <a:lnTo>
                    <a:pt x="0" y="386448"/>
                  </a:lnTo>
                  <a:lnTo>
                    <a:pt x="0" y="2281059"/>
                  </a:lnTo>
                  <a:lnTo>
                    <a:pt x="3302" y="2332354"/>
                  </a:lnTo>
                  <a:lnTo>
                    <a:pt x="10210" y="2370289"/>
                  </a:lnTo>
                  <a:lnTo>
                    <a:pt x="20789" y="2407373"/>
                  </a:lnTo>
                  <a:lnTo>
                    <a:pt x="34963" y="2443225"/>
                  </a:lnTo>
                  <a:lnTo>
                    <a:pt x="52590" y="2477528"/>
                  </a:lnTo>
                  <a:lnTo>
                    <a:pt x="73482" y="2509939"/>
                  </a:lnTo>
                  <a:lnTo>
                    <a:pt x="97447" y="2540152"/>
                  </a:lnTo>
                  <a:lnTo>
                    <a:pt x="124269" y="2567851"/>
                  </a:lnTo>
                  <a:lnTo>
                    <a:pt x="153670" y="2592806"/>
                  </a:lnTo>
                  <a:lnTo>
                    <a:pt x="185381" y="2614739"/>
                  </a:lnTo>
                  <a:lnTo>
                    <a:pt x="219087" y="2633471"/>
                  </a:lnTo>
                  <a:lnTo>
                    <a:pt x="254457" y="2648813"/>
                  </a:lnTo>
                  <a:lnTo>
                    <a:pt x="291172" y="2660611"/>
                  </a:lnTo>
                  <a:lnTo>
                    <a:pt x="328866" y="2668752"/>
                  </a:lnTo>
                  <a:lnTo>
                    <a:pt x="367169" y="2673159"/>
                  </a:lnTo>
                  <a:lnTo>
                    <a:pt x="386448" y="2673946"/>
                  </a:lnTo>
                  <a:lnTo>
                    <a:pt x="7935950" y="2673946"/>
                  </a:lnTo>
                  <a:lnTo>
                    <a:pt x="7987233" y="2670632"/>
                  </a:lnTo>
                  <a:lnTo>
                    <a:pt x="8025168" y="2663736"/>
                  </a:lnTo>
                  <a:lnTo>
                    <a:pt x="8062252" y="2653144"/>
                  </a:lnTo>
                  <a:lnTo>
                    <a:pt x="8098116" y="2638971"/>
                  </a:lnTo>
                  <a:lnTo>
                    <a:pt x="8132419" y="2621356"/>
                  </a:lnTo>
                  <a:lnTo>
                    <a:pt x="8164817" y="2600451"/>
                  </a:lnTo>
                  <a:lnTo>
                    <a:pt x="8195017" y="2576487"/>
                  </a:lnTo>
                  <a:lnTo>
                    <a:pt x="8222729" y="2549677"/>
                  </a:lnTo>
                  <a:lnTo>
                    <a:pt x="8247684" y="2520264"/>
                  </a:lnTo>
                  <a:lnTo>
                    <a:pt x="8269630" y="2488564"/>
                  </a:lnTo>
                  <a:lnTo>
                    <a:pt x="8288362" y="2454859"/>
                  </a:lnTo>
                  <a:lnTo>
                    <a:pt x="8303691" y="2419476"/>
                  </a:lnTo>
                  <a:lnTo>
                    <a:pt x="8315490" y="2382761"/>
                  </a:lnTo>
                  <a:lnTo>
                    <a:pt x="8323630" y="2345067"/>
                  </a:lnTo>
                  <a:lnTo>
                    <a:pt x="8328037" y="2306764"/>
                  </a:lnTo>
                  <a:lnTo>
                    <a:pt x="8328825" y="2287485"/>
                  </a:lnTo>
                  <a:lnTo>
                    <a:pt x="8328825" y="392874"/>
                  </a:lnTo>
                  <a:lnTo>
                    <a:pt x="8325523" y="341591"/>
                  </a:lnTo>
                  <a:lnTo>
                    <a:pt x="8318614" y="303656"/>
                  </a:lnTo>
                  <a:lnTo>
                    <a:pt x="8308022" y="266572"/>
                  </a:lnTo>
                  <a:lnTo>
                    <a:pt x="8293861" y="230720"/>
                  </a:lnTo>
                  <a:lnTo>
                    <a:pt x="8276234" y="196418"/>
                  </a:lnTo>
                  <a:lnTo>
                    <a:pt x="8255342" y="164007"/>
                  </a:lnTo>
                  <a:lnTo>
                    <a:pt x="8231365" y="133807"/>
                  </a:lnTo>
                  <a:lnTo>
                    <a:pt x="8204555" y="106095"/>
                  </a:lnTo>
                  <a:lnTo>
                    <a:pt x="8175155" y="81140"/>
                  </a:lnTo>
                  <a:lnTo>
                    <a:pt x="8143443" y="59194"/>
                  </a:lnTo>
                  <a:lnTo>
                    <a:pt x="8109737" y="40474"/>
                  </a:lnTo>
                  <a:lnTo>
                    <a:pt x="8074355" y="25133"/>
                  </a:lnTo>
                  <a:lnTo>
                    <a:pt x="8037639" y="13334"/>
                  </a:lnTo>
                  <a:lnTo>
                    <a:pt x="7999958" y="5194"/>
                  </a:lnTo>
                  <a:lnTo>
                    <a:pt x="7961642" y="787"/>
                  </a:lnTo>
                  <a:lnTo>
                    <a:pt x="79423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564639" y="7367234"/>
            <a:ext cx="2270125" cy="224536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2500" spc="-25">
                <a:solidFill>
                  <a:srgbClr val="5C7A70"/>
                </a:solidFill>
                <a:latin typeface="Calibri"/>
                <a:cs typeface="Calibri"/>
              </a:rPr>
              <a:t>by</a:t>
            </a:r>
            <a:endParaRPr sz="2500">
              <a:latin typeface="Calibri"/>
              <a:cs typeface="Calibri"/>
            </a:endParaRPr>
          </a:p>
          <a:p>
            <a:pPr marL="12700" marR="5080">
              <a:lnSpc>
                <a:spcPts val="4540"/>
              </a:lnSpc>
              <a:spcBef>
                <a:spcPts val="105"/>
              </a:spcBef>
            </a:pPr>
            <a:r>
              <a:rPr dirty="0" sz="2900" b="1">
                <a:solidFill>
                  <a:srgbClr val="1B4A4A"/>
                </a:solidFill>
                <a:latin typeface="Calibri"/>
                <a:cs typeface="Calibri"/>
              </a:rPr>
              <a:t>Farhan</a:t>
            </a:r>
            <a:r>
              <a:rPr dirty="0" sz="2900" spc="-80" b="1">
                <a:solidFill>
                  <a:srgbClr val="1B4A4A"/>
                </a:solidFill>
                <a:latin typeface="Calibri"/>
                <a:cs typeface="Calibri"/>
              </a:rPr>
              <a:t> </a:t>
            </a:r>
            <a:r>
              <a:rPr dirty="0" sz="2900" spc="-10" b="1">
                <a:solidFill>
                  <a:srgbClr val="1B4A4A"/>
                </a:solidFill>
                <a:latin typeface="Calibri"/>
                <a:cs typeface="Calibri"/>
              </a:rPr>
              <a:t>Ansari </a:t>
            </a:r>
            <a:r>
              <a:rPr dirty="0" sz="2900">
                <a:solidFill>
                  <a:srgbClr val="1F332F"/>
                </a:solidFill>
                <a:latin typeface="Calibri"/>
                <a:cs typeface="Calibri"/>
              </a:rPr>
              <a:t>AIML</a:t>
            </a:r>
            <a:r>
              <a:rPr dirty="0" sz="2900" spc="-20">
                <a:solidFill>
                  <a:srgbClr val="1F332F"/>
                </a:solidFill>
                <a:latin typeface="Calibri"/>
                <a:cs typeface="Calibri"/>
              </a:rPr>
              <a:t> </a:t>
            </a:r>
            <a:r>
              <a:rPr dirty="0" sz="2900" spc="-10">
                <a:solidFill>
                  <a:srgbClr val="1F332F"/>
                </a:solidFill>
                <a:latin typeface="Calibri"/>
                <a:cs typeface="Calibri"/>
              </a:rPr>
              <a:t>RHINOS </a:t>
            </a:r>
            <a:r>
              <a:rPr dirty="0" sz="2900" spc="-10">
                <a:solidFill>
                  <a:srgbClr val="1F332F"/>
                </a:solidFill>
                <a:latin typeface="Calibri"/>
                <a:cs typeface="Calibri"/>
              </a:rPr>
              <a:t>25WU0102074</a:t>
            </a:r>
            <a:endParaRPr sz="29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10887" y="1663960"/>
            <a:ext cx="6057011" cy="60570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10259" y="509185"/>
            <a:ext cx="120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 spc="225">
                <a:solidFill>
                  <a:srgbClr val="D98E3C"/>
                </a:solidFill>
                <a:latin typeface="Calibri"/>
                <a:cs typeface="Calibri"/>
              </a:rPr>
              <a:t>WHERE THE PROJECT STANDS</a:t>
            </a:r>
          </a:p>
        </p:txBody>
      </p:sp>
      <p:sp>
        <p:nvSpPr>
          <p:cNvPr id="3" name="Title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315" rIns="0" bIns="0" rtlCol="0" vert="horz">
            <a:spAutoFit/>
          </a:bodyPr>
          <a:lstStyle/>
          <a:p>
            <a:pPr marL="12700"/>
            <a:r>
              <a:rPr lang="en-US" dirty="0" spc="-25">
                <a:latin typeface="Cambria"/>
                <a:cs typeface="Cambria"/>
              </a:rPr>
              <a:t>Progress Since Review 1</a:t>
            </a:r>
          </a:p>
        </p:txBody>
      </p:sp>
      <p:sp>
        <p:nvSpPr>
          <p:cNvPr id="4" name="Card 4"/>
          <p:cNvSpPr/>
          <p:nvPr/>
        </p:nvSpPr>
        <p:spPr>
          <a:xfrm>
            <a:off x="822956" y="2250000"/>
            <a:ext cx="3150000" cy="5500000"/>
          </a:xfrm>
          <a:prstGeom prst="roundRect">
            <a:avLst>
              <a:gd name="adj" fmla="val 435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5" name="Number 5"/>
          <p:cNvSpPr/>
          <p:nvPr/>
        </p:nvSpPr>
        <p:spPr>
          <a:xfrm>
            <a:off x="1072956" y="2500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1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72956" y="3400000"/>
            <a:ext cx="265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1B4A4A"/>
                </a:solidFill>
                <a:latin typeface="Cambria"/>
                <a:cs typeface="Cambria"/>
              </a:rPr>
              <a:t>Requirement Analysis</a:t>
            </a:r>
          </a:p>
        </p:txBody>
      </p:sp>
      <p:sp>
        <p:nvSpPr>
          <p:cNvPr id="7" name="Status 7"/>
          <p:cNvSpPr/>
          <p:nvPr/>
        </p:nvSpPr>
        <p:spPr>
          <a:xfrm>
            <a:off x="1072956" y="4500000"/>
            <a:ext cx="1900000" cy="420000"/>
          </a:xfrm>
          <a:prstGeom prst="roundRect">
            <a:avLst>
              <a:gd name="adj" fmla="val 50000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600" b="1" i="0">
                <a:solidFill>
                  <a:srgbClr val="FFFFFF"/>
                </a:solidFill>
                <a:latin typeface="Calibri"/>
                <a:cs typeface="Calibri"/>
              </a:rPr>
              <a:t>Completed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1072956" y="5200000"/>
            <a:ext cx="27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285750" indent="-285750">
              <a:spcAft>
                <a:spcPts val="9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Users and entities identified</a:t>
            </a:r>
          </a:p>
          <a:p>
            <a:pPr algn="l" marL="285750" indent="-285750">
              <a:spcAft>
                <a:spcPts val="9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Scope and SRS defined</a:t>
            </a:r>
          </a:p>
        </p:txBody>
      </p:sp>
      <p:sp>
        <p:nvSpPr>
          <p:cNvPr id="9" name="Card 9"/>
          <p:cNvSpPr/>
          <p:nvPr/>
        </p:nvSpPr>
        <p:spPr>
          <a:xfrm>
            <a:off x="4253125" y="2250000"/>
            <a:ext cx="3150000" cy="5500000"/>
          </a:xfrm>
          <a:prstGeom prst="roundRect">
            <a:avLst>
              <a:gd name="adj" fmla="val 435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0" name="Number 10"/>
          <p:cNvSpPr/>
          <p:nvPr/>
        </p:nvSpPr>
        <p:spPr>
          <a:xfrm>
            <a:off x="4503125" y="2500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2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4503125" y="3400000"/>
            <a:ext cx="265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1B4A4A"/>
                </a:solidFill>
                <a:latin typeface="Cambria"/>
                <a:cs typeface="Cambria"/>
              </a:rPr>
              <a:t>Database Design</a:t>
            </a:r>
          </a:p>
        </p:txBody>
      </p:sp>
      <p:sp>
        <p:nvSpPr>
          <p:cNvPr id="12" name="Status 12"/>
          <p:cNvSpPr/>
          <p:nvPr/>
        </p:nvSpPr>
        <p:spPr>
          <a:xfrm>
            <a:off x="4503125" y="4500000"/>
            <a:ext cx="1900000" cy="420000"/>
          </a:xfrm>
          <a:prstGeom prst="roundRect">
            <a:avLst>
              <a:gd name="adj" fmla="val 50000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600" b="1" i="0">
                <a:solidFill>
                  <a:srgbClr val="FFFFFF"/>
                </a:solidFill>
                <a:latin typeface="Calibri"/>
                <a:cs typeface="Calibri"/>
              </a:rPr>
              <a:t>Completed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503125" y="5200000"/>
            <a:ext cx="27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285750" indent="-285750">
              <a:spcAft>
                <a:spcPts val="9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ER model refined</a:t>
            </a:r>
          </a:p>
          <a:p>
            <a:pPr algn="l" marL="285750" indent="-285750">
              <a:spcAft>
                <a:spcPts val="9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5 core tables, keys, constraints</a:t>
            </a:r>
          </a:p>
        </p:txBody>
      </p:sp>
      <p:sp>
        <p:nvSpPr>
          <p:cNvPr id="14" name="Card 14"/>
          <p:cNvSpPr/>
          <p:nvPr/>
        </p:nvSpPr>
        <p:spPr>
          <a:xfrm>
            <a:off x="7683294" y="2250000"/>
            <a:ext cx="3150000" cy="5500000"/>
          </a:xfrm>
          <a:prstGeom prst="roundRect">
            <a:avLst>
              <a:gd name="adj" fmla="val 435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5" name="Number 15"/>
          <p:cNvSpPr/>
          <p:nvPr/>
        </p:nvSpPr>
        <p:spPr>
          <a:xfrm>
            <a:off x="7933294" y="2500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3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7933294" y="3400000"/>
            <a:ext cx="265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1B4A4A"/>
                </a:solidFill>
                <a:latin typeface="Cambria"/>
                <a:cs typeface="Cambria"/>
              </a:rPr>
              <a:t>Database Implementation</a:t>
            </a:r>
          </a:p>
        </p:txBody>
      </p:sp>
      <p:sp>
        <p:nvSpPr>
          <p:cNvPr id="17" name="Status 17"/>
          <p:cNvSpPr/>
          <p:nvPr/>
        </p:nvSpPr>
        <p:spPr>
          <a:xfrm>
            <a:off x="7933294" y="4500000"/>
            <a:ext cx="1900000" cy="420000"/>
          </a:xfrm>
          <a:prstGeom prst="roundRect">
            <a:avLst>
              <a:gd name="adj" fmla="val 50000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600" b="1" i="0">
                <a:solidFill>
                  <a:srgbClr val="FFFFFF"/>
                </a:solidFill>
                <a:latin typeface="Calibri"/>
                <a:cs typeface="Calibri"/>
              </a:rPr>
              <a:t>Completed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7933294" y="5200000"/>
            <a:ext cx="27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285750" indent="-285750">
              <a:spcAft>
                <a:spcPts val="9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Schema built in MySQL</a:t>
            </a:r>
          </a:p>
          <a:p>
            <a:pPr algn="l" marL="285750" indent="-285750">
              <a:spcAft>
                <a:spcPts val="9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placement.sql script</a:t>
            </a:r>
          </a:p>
        </p:txBody>
      </p:sp>
      <p:sp>
        <p:nvSpPr>
          <p:cNvPr id="19" name="Card 19"/>
          <p:cNvSpPr/>
          <p:nvPr/>
        </p:nvSpPr>
        <p:spPr>
          <a:xfrm>
            <a:off x="11113463" y="2250000"/>
            <a:ext cx="3150000" cy="5500000"/>
          </a:xfrm>
          <a:prstGeom prst="roundRect">
            <a:avLst>
              <a:gd name="adj" fmla="val 435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20" name="Number 20"/>
          <p:cNvSpPr/>
          <p:nvPr/>
        </p:nvSpPr>
        <p:spPr>
          <a:xfrm>
            <a:off x="11363463" y="2500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4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1363463" y="3400000"/>
            <a:ext cx="265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1B4A4A"/>
                </a:solidFill>
                <a:latin typeface="Cambria"/>
                <a:cs typeface="Cambria"/>
              </a:rPr>
              <a:t>Application Development</a:t>
            </a:r>
          </a:p>
        </p:txBody>
      </p:sp>
      <p:sp>
        <p:nvSpPr>
          <p:cNvPr id="22" name="Status 22"/>
          <p:cNvSpPr/>
          <p:nvPr/>
        </p:nvSpPr>
        <p:spPr>
          <a:xfrm>
            <a:off x="11363463" y="4500000"/>
            <a:ext cx="1900000" cy="420000"/>
          </a:xfrm>
          <a:prstGeom prst="roundRect">
            <a:avLst>
              <a:gd name="adj" fmla="val 50000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600" b="1" i="0">
                <a:solidFill>
                  <a:srgbClr val="FFFFFF"/>
                </a:solidFill>
                <a:latin typeface="Calibri"/>
                <a:cs typeface="Calibri"/>
              </a:rPr>
              <a:t>Completed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11363463" y="5200000"/>
            <a:ext cx="27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285750" indent="-285750">
              <a:spcAft>
                <a:spcPts val="9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Python console app</a:t>
            </a:r>
          </a:p>
          <a:p>
            <a:pPr algn="l" marL="285750" indent="-285750">
              <a:spcAft>
                <a:spcPts val="9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10 add / view operations</a:t>
            </a:r>
          </a:p>
        </p:txBody>
      </p:sp>
      <p:sp>
        <p:nvSpPr>
          <p:cNvPr id="24" name="Card 24"/>
          <p:cNvSpPr/>
          <p:nvPr/>
        </p:nvSpPr>
        <p:spPr>
          <a:xfrm>
            <a:off x="14543632" y="2250000"/>
            <a:ext cx="3150000" cy="5500000"/>
          </a:xfrm>
          <a:prstGeom prst="roundRect">
            <a:avLst>
              <a:gd name="adj" fmla="val 435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25" name="Number 25"/>
          <p:cNvSpPr/>
          <p:nvPr/>
        </p:nvSpPr>
        <p:spPr>
          <a:xfrm>
            <a:off x="14793632" y="2500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5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14793632" y="3400000"/>
            <a:ext cx="265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1B4A4A"/>
                </a:solidFill>
                <a:latin typeface="Cambria"/>
                <a:cs typeface="Cambria"/>
              </a:rPr>
              <a:t>Testing &amp; Reporting</a:t>
            </a:r>
          </a:p>
        </p:txBody>
      </p:sp>
      <p:sp>
        <p:nvSpPr>
          <p:cNvPr id="27" name="Status 27"/>
          <p:cNvSpPr/>
          <p:nvPr/>
        </p:nvSpPr>
        <p:spPr>
          <a:xfrm>
            <a:off x="14793632" y="4500000"/>
            <a:ext cx="2100000" cy="420000"/>
          </a:xfrm>
          <a:prstGeom prst="roundRect">
            <a:avLst>
              <a:gd name="adj" fmla="val 50000"/>
            </a:avLst>
          </a:prstGeom>
          <a:solidFill>
            <a:srgbClr val="D98E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600" b="1" i="0">
                <a:solidFill>
                  <a:srgbClr val="FFFFFF"/>
                </a:solidFill>
                <a:latin typeface="Calibri"/>
                <a:cs typeface="Calibri"/>
              </a:rPr>
              <a:t>In progress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14793632" y="5200000"/>
            <a:ext cx="27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285750" indent="-285750">
              <a:spcAft>
                <a:spcPts val="9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Testing the full workflow</a:t>
            </a:r>
          </a:p>
          <a:p>
            <a:pPr algn="l" marL="285750" indent="-285750">
              <a:spcAft>
                <a:spcPts val="9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Reports planned next</a:t>
            </a:r>
          </a:p>
        </p:txBody>
      </p:sp>
      <p:sp>
        <p:nvSpPr>
          <p:cNvPr id="29" name="Banner 29"/>
          <p:cNvSpPr/>
          <p:nvPr/>
        </p:nvSpPr>
        <p:spPr>
          <a:xfrm>
            <a:off x="822956" y="8050000"/>
            <a:ext cx="16870679" cy="1350000"/>
          </a:xfrm>
          <a:prstGeom prst="roundRect">
            <a:avLst>
              <a:gd name="adj" fmla="val 10160"/>
            </a:avLst>
          </a:prstGeom>
          <a:solidFill>
            <a:srgbClr val="1B4A4A"/>
          </a:solidFill>
          <a:ln>
            <a:noFill/>
          </a:ln>
        </p:spPr>
        <p:txBody>
          <a:bodyPr wrap="square" lIns="300000" tIns="300000" rIns="300000" bIns="30000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2000" b="1" i="0">
                <a:solidFill>
                  <a:srgbClr val="D98E3C"/>
                </a:solidFill>
                <a:latin typeface="Calibri"/>
                <a:cs typeface="Calibri"/>
              </a:rPr>
              <a:t>Review 1: </a:t>
            </a:r>
            <a:r>
              <a:rPr lang="en-US" dirty="0" sz="2000" b="0" i="0">
                <a:solidFill>
                  <a:srgbClr val="FFFFFF"/>
                </a:solidFill>
                <a:latin typeface="Calibri"/>
                <a:cs typeface="Calibri"/>
              </a:rPr>
              <a:t>problem identification, literature survey, planning and SRS.   </a:t>
            </a:r>
            <a:r>
              <a:rPr lang="en-US" dirty="0" sz="2000" b="1" i="0">
                <a:solidFill>
                  <a:srgbClr val="D98E3C"/>
                </a:solidFill>
                <a:latin typeface="Calibri"/>
                <a:cs typeface="Calibri"/>
              </a:rPr>
              <a:t>Review 2: </a:t>
            </a:r>
            <a:r>
              <a:rPr lang="en-US" dirty="0" sz="2000" b="0" i="0">
                <a:solidFill>
                  <a:srgbClr val="FFFFFF"/>
                </a:solidFill>
                <a:latin typeface="Calibri"/>
                <a:cs typeface="Calibri"/>
              </a:rPr>
              <a:t>design, working implementation and prototype demonstration.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10259" y="509185"/>
            <a:ext cx="120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 spc="225">
                <a:solidFill>
                  <a:srgbClr val="D98E3C"/>
                </a:solidFill>
                <a:latin typeface="Calibri"/>
                <a:cs typeface="Calibri"/>
              </a:rPr>
              <a:t>FROM REVIEW 1 TO THE FINAL TABLES</a:t>
            </a:r>
          </a:p>
        </p:txBody>
      </p:sp>
      <p:sp>
        <p:nvSpPr>
          <p:cNvPr id="3" name="Title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315" rIns="0" bIns="0" rtlCol="0" vert="horz">
            <a:spAutoFit/>
          </a:bodyPr>
          <a:lstStyle/>
          <a:p>
            <a:pPr marL="12700"/>
            <a:r>
              <a:rPr lang="en-US" dirty="0" spc="-25">
                <a:latin typeface="Cambria"/>
                <a:cs typeface="Cambria"/>
              </a:rPr>
              <a:t>Design Refinement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2956" y="2150000"/>
            <a:ext cx="63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 spc="150">
                <a:solidFill>
                  <a:srgbClr val="1B4A4A"/>
                </a:solidFill>
                <a:latin typeface="Calibri"/>
                <a:cs typeface="Calibri"/>
              </a:rPr>
              <a:t>REVIEW 1 ENTITIES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922956" y="2150000"/>
            <a:ext cx="33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 spc="150">
                <a:solidFill>
                  <a:srgbClr val="1B4A4A"/>
                </a:solidFill>
                <a:latin typeface="Calibri"/>
                <a:cs typeface="Calibri"/>
              </a:rPr>
              <a:t>IMPLEMENTED AS</a:t>
            </a:r>
          </a:p>
        </p:txBody>
      </p:sp>
      <p:sp>
        <p:nvSpPr>
          <p:cNvPr id="6" name="Card 6"/>
          <p:cNvSpPr/>
          <p:nvPr/>
        </p:nvSpPr>
        <p:spPr>
          <a:xfrm>
            <a:off x="822956" y="2650000"/>
            <a:ext cx="6300000" cy="900000"/>
          </a:xfrm>
          <a:prstGeom prst="roundRect">
            <a:avLst>
              <a:gd name="adj" fmla="val 1524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1072956" y="2650000"/>
            <a:ext cx="59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Student, Department, Academic Record, Skill</a:t>
            </a:r>
          </a:p>
        </p:txBody>
      </p:sp>
      <p:cxnSp>
        <p:nvCxnSpPr>
          <p:cNvPr id="8" name="Connector 8"/>
          <p:cNvCxnSpPr/>
          <p:nvPr/>
        </p:nvCxnSpPr>
        <p:spPr>
          <a:xfrm>
            <a:off x="7242956" y="3100000"/>
            <a:ext cx="560000" cy="0"/>
          </a:xfrm>
          <a:prstGeom prst="line">
            <a:avLst/>
          </a:prstGeom>
          <a:ln w="38100">
            <a:solidFill>
              <a:srgbClr val="D98E3C"/>
            </a:solidFill>
            <a:tailEnd type="triangle" w="lg" len="lg"/>
          </a:ln>
        </p:spPr>
      </p:cxnSp>
      <p:sp>
        <p:nvSpPr>
          <p:cNvPr id="9" name="Table 9"/>
          <p:cNvSpPr/>
          <p:nvPr/>
        </p:nvSpPr>
        <p:spPr>
          <a:xfrm>
            <a:off x="7922956" y="2650000"/>
            <a:ext cx="3300000" cy="900000"/>
          </a:xfrm>
          <a:prstGeom prst="roundRect">
            <a:avLst>
              <a:gd name="adj" fmla="val 15240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FFFFFF"/>
                </a:solidFill>
                <a:latin typeface="Calibri"/>
                <a:cs typeface="Calibri"/>
              </a:rPr>
              <a:t>students</a:t>
            </a:r>
          </a:p>
        </p:txBody>
      </p:sp>
      <p:sp>
        <p:nvSpPr>
          <p:cNvPr id="10" name="Card 10"/>
          <p:cNvSpPr/>
          <p:nvPr/>
        </p:nvSpPr>
        <p:spPr>
          <a:xfrm>
            <a:off x="822956" y="3750000"/>
            <a:ext cx="6300000" cy="900000"/>
          </a:xfrm>
          <a:prstGeom prst="roundRect">
            <a:avLst>
              <a:gd name="adj" fmla="val 1524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1072956" y="3750000"/>
            <a:ext cx="59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Company</a:t>
            </a:r>
          </a:p>
        </p:txBody>
      </p:sp>
      <p:cxnSp>
        <p:nvCxnSpPr>
          <p:cNvPr id="12" name="Connector 12"/>
          <p:cNvCxnSpPr/>
          <p:nvPr/>
        </p:nvCxnSpPr>
        <p:spPr>
          <a:xfrm>
            <a:off x="7242956" y="4200000"/>
            <a:ext cx="560000" cy="0"/>
          </a:xfrm>
          <a:prstGeom prst="line">
            <a:avLst/>
          </a:prstGeom>
          <a:ln w="38100">
            <a:solidFill>
              <a:srgbClr val="D98E3C"/>
            </a:solidFill>
            <a:tailEnd type="triangle" w="lg" len="lg"/>
          </a:ln>
        </p:spPr>
      </p:cxnSp>
      <p:sp>
        <p:nvSpPr>
          <p:cNvPr id="13" name="Table 13"/>
          <p:cNvSpPr/>
          <p:nvPr/>
        </p:nvSpPr>
        <p:spPr>
          <a:xfrm>
            <a:off x="7922956" y="3750000"/>
            <a:ext cx="3300000" cy="900000"/>
          </a:xfrm>
          <a:prstGeom prst="roundRect">
            <a:avLst>
              <a:gd name="adj" fmla="val 15240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FFFFFF"/>
                </a:solidFill>
                <a:latin typeface="Calibri"/>
                <a:cs typeface="Calibri"/>
              </a:rPr>
              <a:t>companies</a:t>
            </a:r>
          </a:p>
        </p:txBody>
      </p:sp>
      <p:sp>
        <p:nvSpPr>
          <p:cNvPr id="14" name="Card 14"/>
          <p:cNvSpPr/>
          <p:nvPr/>
        </p:nvSpPr>
        <p:spPr>
          <a:xfrm>
            <a:off x="822956" y="4850000"/>
            <a:ext cx="6300000" cy="900000"/>
          </a:xfrm>
          <a:prstGeom prst="roundRect">
            <a:avLst>
              <a:gd name="adj" fmla="val 1524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5" name="Text 15"/>
          <p:cNvSpPr txBox="1"/>
          <p:nvPr/>
        </p:nvSpPr>
        <p:spPr>
          <a:xfrm>
            <a:off x="1072956" y="4850000"/>
            <a:ext cx="59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Job Profile, Placement Drive, Eligibility Criteria</a:t>
            </a:r>
          </a:p>
        </p:txBody>
      </p:sp>
      <p:cxnSp>
        <p:nvCxnSpPr>
          <p:cNvPr id="16" name="Connector 16"/>
          <p:cNvCxnSpPr/>
          <p:nvPr/>
        </p:nvCxnSpPr>
        <p:spPr>
          <a:xfrm>
            <a:off x="7242956" y="5300000"/>
            <a:ext cx="560000" cy="0"/>
          </a:xfrm>
          <a:prstGeom prst="line">
            <a:avLst/>
          </a:prstGeom>
          <a:ln w="38100">
            <a:solidFill>
              <a:srgbClr val="D98E3C"/>
            </a:solidFill>
            <a:tailEnd type="triangle" w="lg" len="lg"/>
          </a:ln>
        </p:spPr>
      </p:cxnSp>
      <p:sp>
        <p:nvSpPr>
          <p:cNvPr id="17" name="Table 17"/>
          <p:cNvSpPr/>
          <p:nvPr/>
        </p:nvSpPr>
        <p:spPr>
          <a:xfrm>
            <a:off x="7922956" y="4850000"/>
            <a:ext cx="3300000" cy="900000"/>
          </a:xfrm>
          <a:prstGeom prst="roundRect">
            <a:avLst>
              <a:gd name="adj" fmla="val 15240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FFFFFF"/>
                </a:solidFill>
                <a:latin typeface="Calibri"/>
                <a:cs typeface="Calibri"/>
              </a:rPr>
              <a:t>job_postings</a:t>
            </a:r>
          </a:p>
        </p:txBody>
      </p:sp>
      <p:sp>
        <p:nvSpPr>
          <p:cNvPr id="18" name="Card 18"/>
          <p:cNvSpPr/>
          <p:nvPr/>
        </p:nvSpPr>
        <p:spPr>
          <a:xfrm>
            <a:off x="822956" y="5950000"/>
            <a:ext cx="6300000" cy="900000"/>
          </a:xfrm>
          <a:prstGeom prst="roundRect">
            <a:avLst>
              <a:gd name="adj" fmla="val 1524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9" name="Text 19"/>
          <p:cNvSpPr txBox="1"/>
          <p:nvPr/>
        </p:nvSpPr>
        <p:spPr>
          <a:xfrm>
            <a:off x="1072956" y="5950000"/>
            <a:ext cx="59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Application</a:t>
            </a:r>
          </a:p>
        </p:txBody>
      </p:sp>
      <p:cxnSp>
        <p:nvCxnSpPr>
          <p:cNvPr id="20" name="Connector 20"/>
          <p:cNvCxnSpPr/>
          <p:nvPr/>
        </p:nvCxnSpPr>
        <p:spPr>
          <a:xfrm>
            <a:off x="7242956" y="6400000"/>
            <a:ext cx="560000" cy="0"/>
          </a:xfrm>
          <a:prstGeom prst="line">
            <a:avLst/>
          </a:prstGeom>
          <a:ln w="38100">
            <a:solidFill>
              <a:srgbClr val="D98E3C"/>
            </a:solidFill>
            <a:tailEnd type="triangle" w="lg" len="lg"/>
          </a:ln>
        </p:spPr>
      </p:cxnSp>
      <p:sp>
        <p:nvSpPr>
          <p:cNvPr id="21" name="Table 21"/>
          <p:cNvSpPr/>
          <p:nvPr/>
        </p:nvSpPr>
        <p:spPr>
          <a:xfrm>
            <a:off x="7922956" y="5950000"/>
            <a:ext cx="3300000" cy="900000"/>
          </a:xfrm>
          <a:prstGeom prst="roundRect">
            <a:avLst>
              <a:gd name="adj" fmla="val 15240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FFFFFF"/>
                </a:solidFill>
                <a:latin typeface="Calibri"/>
                <a:cs typeface="Calibri"/>
              </a:rPr>
              <a:t>applications</a:t>
            </a:r>
          </a:p>
        </p:txBody>
      </p:sp>
      <p:sp>
        <p:nvSpPr>
          <p:cNvPr id="22" name="Card 22"/>
          <p:cNvSpPr/>
          <p:nvPr/>
        </p:nvSpPr>
        <p:spPr>
          <a:xfrm>
            <a:off x="822956" y="7050000"/>
            <a:ext cx="6300000" cy="900000"/>
          </a:xfrm>
          <a:prstGeom prst="roundRect">
            <a:avLst>
              <a:gd name="adj" fmla="val 1524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23" name="Text 23"/>
          <p:cNvSpPr txBox="1"/>
          <p:nvPr/>
        </p:nvSpPr>
        <p:spPr>
          <a:xfrm>
            <a:off x="1072956" y="7050000"/>
            <a:ext cx="59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Selection Round, Result</a:t>
            </a:r>
          </a:p>
        </p:txBody>
      </p:sp>
      <p:cxnSp>
        <p:nvCxnSpPr>
          <p:cNvPr id="24" name="Connector 24"/>
          <p:cNvCxnSpPr/>
          <p:nvPr/>
        </p:nvCxnSpPr>
        <p:spPr>
          <a:xfrm>
            <a:off x="7242956" y="7500000"/>
            <a:ext cx="560000" cy="0"/>
          </a:xfrm>
          <a:prstGeom prst="line">
            <a:avLst/>
          </a:prstGeom>
          <a:ln w="38100">
            <a:solidFill>
              <a:srgbClr val="D98E3C"/>
            </a:solidFill>
            <a:tailEnd type="triangle" w="lg" len="lg"/>
          </a:ln>
        </p:spPr>
      </p:cxnSp>
      <p:sp>
        <p:nvSpPr>
          <p:cNvPr id="25" name="Table 25"/>
          <p:cNvSpPr/>
          <p:nvPr/>
        </p:nvSpPr>
        <p:spPr>
          <a:xfrm>
            <a:off x="7922956" y="7050000"/>
            <a:ext cx="3300000" cy="900000"/>
          </a:xfrm>
          <a:prstGeom prst="roundRect">
            <a:avLst>
              <a:gd name="adj" fmla="val 15240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FFFFFF"/>
                </a:solidFill>
                <a:latin typeface="Calibri"/>
                <a:cs typeface="Calibri"/>
              </a:rPr>
              <a:t>interviews</a:t>
            </a:r>
          </a:p>
        </p:txBody>
      </p:sp>
      <p:sp>
        <p:nvSpPr>
          <p:cNvPr id="26" name="Card 26"/>
          <p:cNvSpPr/>
          <p:nvPr/>
        </p:nvSpPr>
        <p:spPr>
          <a:xfrm>
            <a:off x="822956" y="8150000"/>
            <a:ext cx="6300000" cy="900000"/>
          </a:xfrm>
          <a:prstGeom prst="roundRect">
            <a:avLst>
              <a:gd name="adj" fmla="val 1524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27" name="Text 27"/>
          <p:cNvSpPr txBox="1"/>
          <p:nvPr/>
        </p:nvSpPr>
        <p:spPr>
          <a:xfrm>
            <a:off x="1072956" y="8150000"/>
            <a:ext cx="59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Offer</a:t>
            </a:r>
          </a:p>
        </p:txBody>
      </p:sp>
      <p:cxnSp>
        <p:nvCxnSpPr>
          <p:cNvPr id="28" name="Connector 28"/>
          <p:cNvCxnSpPr/>
          <p:nvPr/>
        </p:nvCxnSpPr>
        <p:spPr>
          <a:xfrm>
            <a:off x="7242956" y="8600000"/>
            <a:ext cx="560000" cy="0"/>
          </a:xfrm>
          <a:prstGeom prst="line">
            <a:avLst/>
          </a:prstGeom>
          <a:ln w="38100">
            <a:solidFill>
              <a:srgbClr val="D98E3C"/>
            </a:solidFill>
            <a:tailEnd type="triangle" w="lg" len="lg"/>
          </a:ln>
        </p:spPr>
      </p:cxnSp>
      <p:sp>
        <p:nvSpPr>
          <p:cNvPr id="29" name="Table 29"/>
          <p:cNvSpPr/>
          <p:nvPr/>
        </p:nvSpPr>
        <p:spPr>
          <a:xfrm>
            <a:off x="7922956" y="8150000"/>
            <a:ext cx="3300000" cy="900000"/>
          </a:xfrm>
          <a:prstGeom prst="roundRect">
            <a:avLst>
              <a:gd name="adj" fmla="val 15240"/>
            </a:avLst>
          </a:prstGeom>
          <a:solidFill>
            <a:srgbClr val="2C3A8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FFFFFF"/>
                </a:solidFill>
                <a:latin typeface="Calibri"/>
                <a:cs typeface="Calibri"/>
              </a:rPr>
              <a:t>students.status = Placed</a:t>
            </a:r>
          </a:p>
        </p:txBody>
      </p:sp>
      <p:sp>
        <p:nvSpPr>
          <p:cNvPr id="30" name="Panel 30"/>
          <p:cNvSpPr/>
          <p:nvPr/>
        </p:nvSpPr>
        <p:spPr>
          <a:xfrm>
            <a:off x="11672956" y="2650000"/>
            <a:ext cx="6020679" cy="6400000"/>
          </a:xfrm>
          <a:prstGeom prst="roundRect">
            <a:avLst>
              <a:gd name="adj" fmla="val 2278"/>
            </a:avLst>
          </a:prstGeom>
          <a:solidFill>
            <a:srgbClr val="1B4A4A"/>
          </a:solidFill>
          <a:ln>
            <a:noFill/>
          </a:ln>
        </p:spPr>
        <p:txBody>
          <a:bodyPr wrap="square" lIns="350000" tIns="350000" rIns="350000" bIns="350000" rtlCol="0" anchor="t">
            <a:noAutofit/>
          </a:bodyPr>
          <a:lstStyle/>
          <a:p>
            <a:pPr algn="l">
              <a:spcAft>
                <a:spcPts val="150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Why 12 entities became 5 tables</a:t>
            </a:r>
          </a:p>
          <a:p>
            <a:pPr algn="l" marL="285750" indent="-285750">
              <a:spcAft>
                <a:spcPts val="12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FFFFFF"/>
                </a:solidFill>
                <a:latin typeface="Calibri"/>
                <a:cs typeface="Calibri"/>
              </a:rPr>
              <a:t>Department, CGPA and status are stored as student attributes</a:t>
            </a:r>
          </a:p>
          <a:p>
            <a:pPr algn="l" marL="285750" indent="-285750">
              <a:spcAft>
                <a:spcPts val="12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FFFFFF"/>
                </a:solidFill>
                <a:latin typeface="Calibri"/>
                <a:cs typeface="Calibri"/>
              </a:rPr>
              <a:t>Eligibility (minimum CGPA) and deadline live with the job posting</a:t>
            </a:r>
          </a:p>
          <a:p>
            <a:pPr algn="l" marL="285750" indent="-285750">
              <a:spcAft>
                <a:spcPts val="12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FFFFFF"/>
                </a:solidFill>
                <a:latin typeface="Calibri"/>
                <a:cs typeface="Calibri"/>
              </a:rPr>
              <a:t>Rounds and results share one interviews table</a:t>
            </a:r>
          </a:p>
          <a:p>
            <a:pPr algn="l" marL="285750" indent="-285750">
              <a:spcAft>
                <a:spcPts val="12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FFFFFF"/>
                </a:solidFill>
                <a:latin typeface="Calibri"/>
                <a:cs typeface="Calibri"/>
              </a:rPr>
              <a:t>Fewer tables mean simpler joins and less duplicate data</a:t>
            </a:r>
          </a:p>
          <a:p>
            <a:pPr algn="l" marL="285750" indent="-285750">
              <a:spcAft>
                <a:spcPts val="12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FFFFFF"/>
                </a:solidFill>
                <a:latin typeface="Calibri"/>
                <a:cs typeface="Calibri"/>
              </a:rPr>
              <a:t>A separate offers table is planned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10259" y="509185"/>
            <a:ext cx="120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 spc="225">
                <a:solidFill>
                  <a:srgbClr val="D98E3C"/>
                </a:solidFill>
                <a:latin typeface="Calibri"/>
                <a:cs typeface="Calibri"/>
              </a:rPr>
              <a:t>FIVE TABLES, FOUR RELATIONSHIPS</a:t>
            </a:r>
          </a:p>
        </p:txBody>
      </p:sp>
      <p:sp>
        <p:nvSpPr>
          <p:cNvPr id="3" name="Title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315" rIns="0" bIns="0" rtlCol="0" vert="horz">
            <a:spAutoFit/>
          </a:bodyPr>
          <a:lstStyle/>
          <a:p>
            <a:pPr marL="12700"/>
            <a:r>
              <a:rPr lang="en-US" dirty="0" spc="-25">
                <a:latin typeface="Cambria"/>
                <a:cs typeface="Cambria"/>
              </a:rPr>
              <a:t>Entity Relationship Design</a:t>
            </a:r>
          </a:p>
        </p:txBody>
      </p:sp>
      <p:sp>
        <p:nvSpPr>
          <p:cNvPr id="4" name="Card 4"/>
          <p:cNvSpPr/>
          <p:nvPr/>
        </p:nvSpPr>
        <p:spPr>
          <a:xfrm>
            <a:off x="822956" y="2200000"/>
            <a:ext cx="3350000" cy="3350000"/>
          </a:xfrm>
          <a:prstGeom prst="roundRect">
            <a:avLst>
              <a:gd name="adj" fmla="val 409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5" name="Entity 5"/>
          <p:cNvSpPr/>
          <p:nvPr/>
        </p:nvSpPr>
        <p:spPr>
          <a:xfrm>
            <a:off x="822956" y="2200000"/>
            <a:ext cx="3350000" cy="700000"/>
          </a:xfrm>
          <a:prstGeom prst="roundRect">
            <a:avLst>
              <a:gd name="adj" fmla="val 19594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200" b="1" i="0">
                <a:solidFill>
                  <a:srgbClr val="FFFFFF"/>
                </a:solidFill>
                <a:latin typeface="Cambria"/>
                <a:cs typeface="Cambria"/>
              </a:rPr>
              <a:t>companies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42956" y="3020000"/>
            <a:ext cx="305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company_id (PK)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company_name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hr_email (UNIQUE)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industry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website</a:t>
            </a:r>
          </a:p>
        </p:txBody>
      </p:sp>
      <p:sp>
        <p:nvSpPr>
          <p:cNvPr id="7" name="Card 7"/>
          <p:cNvSpPr/>
          <p:nvPr/>
        </p:nvSpPr>
        <p:spPr>
          <a:xfrm>
            <a:off x="5329849" y="2200000"/>
            <a:ext cx="3350000" cy="3350000"/>
          </a:xfrm>
          <a:prstGeom prst="roundRect">
            <a:avLst>
              <a:gd name="adj" fmla="val 409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8" name="Entity 8"/>
          <p:cNvSpPr/>
          <p:nvPr/>
        </p:nvSpPr>
        <p:spPr>
          <a:xfrm>
            <a:off x="5329849" y="2200000"/>
            <a:ext cx="3350000" cy="700000"/>
          </a:xfrm>
          <a:prstGeom prst="roundRect">
            <a:avLst>
              <a:gd name="adj" fmla="val 19594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200" b="1" i="0">
                <a:solidFill>
                  <a:srgbClr val="FFFFFF"/>
                </a:solidFill>
                <a:latin typeface="Cambria"/>
                <a:cs typeface="Cambria"/>
              </a:rPr>
              <a:t>job_postings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5549849" y="3020000"/>
            <a:ext cx="305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job_id (PK)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company_id (FK)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job_title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package_lpa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min_cgpa_required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deadline</a:t>
            </a:r>
          </a:p>
        </p:txBody>
      </p:sp>
      <p:sp>
        <p:nvSpPr>
          <p:cNvPr id="10" name="Card 10"/>
          <p:cNvSpPr/>
          <p:nvPr/>
        </p:nvSpPr>
        <p:spPr>
          <a:xfrm>
            <a:off x="9836742" y="2200000"/>
            <a:ext cx="3350000" cy="3350000"/>
          </a:xfrm>
          <a:prstGeom prst="roundRect">
            <a:avLst>
              <a:gd name="adj" fmla="val 409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1" name="Entity 11"/>
          <p:cNvSpPr/>
          <p:nvPr/>
        </p:nvSpPr>
        <p:spPr>
          <a:xfrm>
            <a:off x="9836742" y="2200000"/>
            <a:ext cx="3350000" cy="700000"/>
          </a:xfrm>
          <a:prstGeom prst="roundRect">
            <a:avLst>
              <a:gd name="adj" fmla="val 19594"/>
            </a:avLst>
          </a:prstGeom>
          <a:solidFill>
            <a:srgbClr val="2C3A8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200" b="1" i="0">
                <a:solidFill>
                  <a:srgbClr val="FFFFFF"/>
                </a:solidFill>
                <a:latin typeface="Cambria"/>
                <a:cs typeface="Cambria"/>
              </a:rPr>
              <a:t>applications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0056742" y="3020000"/>
            <a:ext cx="305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application_id (PK)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student_id (FK)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job_id (FK)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application_date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status</a:t>
            </a:r>
          </a:p>
        </p:txBody>
      </p:sp>
      <p:sp>
        <p:nvSpPr>
          <p:cNvPr id="13" name="Card 13"/>
          <p:cNvSpPr/>
          <p:nvPr/>
        </p:nvSpPr>
        <p:spPr>
          <a:xfrm>
            <a:off x="14343635" y="2200000"/>
            <a:ext cx="3350000" cy="3350000"/>
          </a:xfrm>
          <a:prstGeom prst="roundRect">
            <a:avLst>
              <a:gd name="adj" fmla="val 409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4" name="Entity 14"/>
          <p:cNvSpPr/>
          <p:nvPr/>
        </p:nvSpPr>
        <p:spPr>
          <a:xfrm>
            <a:off x="14343635" y="2200000"/>
            <a:ext cx="3350000" cy="700000"/>
          </a:xfrm>
          <a:prstGeom prst="roundRect">
            <a:avLst>
              <a:gd name="adj" fmla="val 19594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200" b="1" i="0">
                <a:solidFill>
                  <a:srgbClr val="FFFFFF"/>
                </a:solidFill>
                <a:latin typeface="Cambria"/>
                <a:cs typeface="Cambria"/>
              </a:rPr>
              <a:t>students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4563635" y="3020000"/>
            <a:ext cx="305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student_id (PK)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first_name, last_name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email (UNIQUE)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department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cgpa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status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4172956" y="3000000"/>
            <a:ext cx="1156893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D98E3C"/>
                </a:solidFill>
                <a:latin typeface="Calibri"/>
                <a:cs typeface="Calibri"/>
              </a:rPr>
              <a:t>1 : N</a:t>
            </a:r>
          </a:p>
        </p:txBody>
      </p:sp>
      <p:cxnSp>
        <p:nvCxnSpPr>
          <p:cNvPr id="17" name="Connector 17"/>
          <p:cNvCxnSpPr/>
          <p:nvPr/>
        </p:nvCxnSpPr>
        <p:spPr>
          <a:xfrm>
            <a:off x="4252956" y="3550000"/>
            <a:ext cx="996893" cy="0"/>
          </a:xfrm>
          <a:prstGeom prst="line">
            <a:avLst/>
          </a:prstGeom>
          <a:ln w="38100">
            <a:solidFill>
              <a:srgbClr val="D98E3C"/>
            </a:solidFill>
          </a:ln>
        </p:spPr>
      </p:cxnSp>
      <p:sp>
        <p:nvSpPr>
          <p:cNvPr id="18" name="Text 18"/>
          <p:cNvSpPr txBox="1"/>
          <p:nvPr/>
        </p:nvSpPr>
        <p:spPr>
          <a:xfrm>
            <a:off x="4172956" y="3650000"/>
            <a:ext cx="1156893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600" b="0" i="1">
                <a:solidFill>
                  <a:srgbClr val="1F332F"/>
                </a:solidFill>
                <a:latin typeface="Calibri"/>
                <a:cs typeface="Calibri"/>
              </a:rPr>
              <a:t>posts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8679849" y="3000000"/>
            <a:ext cx="1156893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D98E3C"/>
                </a:solidFill>
                <a:latin typeface="Calibri"/>
                <a:cs typeface="Calibri"/>
              </a:rPr>
              <a:t>1 : N</a:t>
            </a:r>
          </a:p>
        </p:txBody>
      </p:sp>
      <p:cxnSp>
        <p:nvCxnSpPr>
          <p:cNvPr id="20" name="Connector 20"/>
          <p:cNvCxnSpPr/>
          <p:nvPr/>
        </p:nvCxnSpPr>
        <p:spPr>
          <a:xfrm>
            <a:off x="8759849" y="3550000"/>
            <a:ext cx="996893" cy="0"/>
          </a:xfrm>
          <a:prstGeom prst="line">
            <a:avLst/>
          </a:prstGeom>
          <a:ln w="38100">
            <a:solidFill>
              <a:srgbClr val="D98E3C"/>
            </a:solidFill>
          </a:ln>
        </p:spPr>
      </p:cxnSp>
      <p:sp>
        <p:nvSpPr>
          <p:cNvPr id="21" name="Text 21"/>
          <p:cNvSpPr txBox="1"/>
          <p:nvPr/>
        </p:nvSpPr>
        <p:spPr>
          <a:xfrm>
            <a:off x="8679849" y="3650000"/>
            <a:ext cx="1156893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600" b="0" i="1">
                <a:solidFill>
                  <a:srgbClr val="1F332F"/>
                </a:solidFill>
                <a:latin typeface="Calibri"/>
                <a:cs typeface="Calibri"/>
              </a:rPr>
              <a:t>receives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3186742" y="3000000"/>
            <a:ext cx="1156893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D98E3C"/>
                </a:solidFill>
                <a:latin typeface="Calibri"/>
                <a:cs typeface="Calibri"/>
              </a:rPr>
              <a:t>N : 1</a:t>
            </a:r>
          </a:p>
        </p:txBody>
      </p:sp>
      <p:cxnSp>
        <p:nvCxnSpPr>
          <p:cNvPr id="23" name="Connector 23"/>
          <p:cNvCxnSpPr/>
          <p:nvPr/>
        </p:nvCxnSpPr>
        <p:spPr>
          <a:xfrm>
            <a:off x="13266742" y="3550000"/>
            <a:ext cx="996893" cy="0"/>
          </a:xfrm>
          <a:prstGeom prst="line">
            <a:avLst/>
          </a:prstGeom>
          <a:ln w="38100">
            <a:solidFill>
              <a:srgbClr val="D98E3C"/>
            </a:solidFill>
          </a:ln>
        </p:spPr>
      </p:cxnSp>
      <p:sp>
        <p:nvSpPr>
          <p:cNvPr id="24" name="Text 24"/>
          <p:cNvSpPr txBox="1"/>
          <p:nvPr/>
        </p:nvSpPr>
        <p:spPr>
          <a:xfrm>
            <a:off x="13186742" y="3650000"/>
            <a:ext cx="1156893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600" b="0" i="1">
                <a:solidFill>
                  <a:srgbClr val="1F332F"/>
                </a:solidFill>
                <a:latin typeface="Calibri"/>
                <a:cs typeface="Calibri"/>
              </a:rPr>
              <a:t>made by</a:t>
            </a:r>
          </a:p>
        </p:txBody>
      </p:sp>
      <p:sp>
        <p:nvSpPr>
          <p:cNvPr id="25" name="Card 25"/>
          <p:cNvSpPr/>
          <p:nvPr/>
        </p:nvSpPr>
        <p:spPr>
          <a:xfrm>
            <a:off x="9836742" y="6000000"/>
            <a:ext cx="3350000" cy="3350000"/>
          </a:xfrm>
          <a:prstGeom prst="roundRect">
            <a:avLst>
              <a:gd name="adj" fmla="val 409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26" name="Entity 26"/>
          <p:cNvSpPr/>
          <p:nvPr/>
        </p:nvSpPr>
        <p:spPr>
          <a:xfrm>
            <a:off x="9836742" y="6000000"/>
            <a:ext cx="3350000" cy="700000"/>
          </a:xfrm>
          <a:prstGeom prst="roundRect">
            <a:avLst>
              <a:gd name="adj" fmla="val 19594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200" b="1" i="0">
                <a:solidFill>
                  <a:srgbClr val="FFFFFF"/>
                </a:solidFill>
                <a:latin typeface="Cambria"/>
                <a:cs typeface="Cambria"/>
              </a:rPr>
              <a:t>interviews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10056742" y="6820000"/>
            <a:ext cx="3050000" cy="2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interview_id (PK)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application_id (FK)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interview_date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interviewer_name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round_number</a:t>
            </a:r>
          </a:p>
          <a:p>
            <a:pPr algn="l">
              <a:spcAft>
                <a:spcPts val="30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result</a:t>
            </a:r>
          </a:p>
        </p:txBody>
      </p:sp>
      <p:cxnSp>
        <p:nvCxnSpPr>
          <p:cNvPr id="28" name="Connector 28"/>
          <p:cNvCxnSpPr/>
          <p:nvPr/>
        </p:nvCxnSpPr>
        <p:spPr>
          <a:xfrm>
            <a:off x="11511742" y="5550000"/>
            <a:ext cx="0" cy="450000"/>
          </a:xfrm>
          <a:prstGeom prst="line">
            <a:avLst/>
          </a:prstGeom>
          <a:ln w="38100">
            <a:solidFill>
              <a:srgbClr val="D98E3C"/>
            </a:solidFill>
            <a:tailEnd type="triangle" w="lg" len="lg"/>
          </a:ln>
        </p:spPr>
      </p:cxnSp>
      <p:sp>
        <p:nvSpPr>
          <p:cNvPr id="29" name="Text 29"/>
          <p:cNvSpPr txBox="1"/>
          <p:nvPr/>
        </p:nvSpPr>
        <p:spPr>
          <a:xfrm>
            <a:off x="11661742" y="5560000"/>
            <a:ext cx="2800000" cy="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D98E3C"/>
                </a:solidFill>
                <a:latin typeface="Calibri"/>
                <a:cs typeface="Calibri"/>
              </a:rPr>
              <a:t>1 : N  leads to</a:t>
            </a:r>
          </a:p>
        </p:txBody>
      </p:sp>
      <p:sp>
        <p:nvSpPr>
          <p:cNvPr id="30" name="Note 30"/>
          <p:cNvSpPr/>
          <p:nvPr/>
        </p:nvSpPr>
        <p:spPr>
          <a:xfrm>
            <a:off x="822956" y="6000000"/>
            <a:ext cx="7856893" cy="3350000"/>
          </a:xfrm>
          <a:prstGeom prst="roundRect">
            <a:avLst>
              <a:gd name="adj" fmla="val 4094"/>
            </a:avLst>
          </a:prstGeom>
          <a:solidFill>
            <a:srgbClr val="FFFFFF"/>
          </a:solidFill>
          <a:ln>
            <a:noFill/>
          </a:ln>
        </p:spPr>
        <p:txBody>
          <a:bodyPr wrap="square" lIns="300000" tIns="300000" rIns="300000" bIns="300000" rtlCol="0" anchor="t">
            <a:no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en-US" dirty="0" sz="2200" b="1" i="0">
                <a:solidFill>
                  <a:srgbClr val="1B4A4A"/>
                </a:solidFill>
                <a:latin typeface="Cambria"/>
                <a:cs typeface="Cambria"/>
              </a:rPr>
              <a:t>How the design works</a:t>
            </a:r>
          </a:p>
          <a:p>
            <a:pPr algn="l" marL="285750" indent="-285750">
              <a:spcAft>
                <a:spcPts val="7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Students and jobs are many-to-many, resolved by applications</a:t>
            </a:r>
          </a:p>
          <a:p>
            <a:pPr algn="l" marL="285750" indent="-285750">
              <a:spcAft>
                <a:spcPts val="7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Each interview round belongs to one application</a:t>
            </a:r>
          </a:p>
          <a:p>
            <a:pPr algn="l" marL="285750" indent="-285750">
              <a:spcAft>
                <a:spcPts val="7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Foreign keys use ON DELETE CASCADE to avoid orphan rows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10259" y="509185"/>
            <a:ext cx="120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 spc="225">
                <a:solidFill>
                  <a:srgbClr val="D98E3C"/>
                </a:solidFill>
                <a:latin typeface="Calibri"/>
                <a:cs typeface="Calibri"/>
              </a:rPr>
              <a:t>INTEGRITY BUILT INTO THE DATABASE</a:t>
            </a:r>
          </a:p>
        </p:txBody>
      </p:sp>
      <p:sp>
        <p:nvSpPr>
          <p:cNvPr id="3" name="Title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315" rIns="0" bIns="0" rtlCol="0" vert="horz">
            <a:spAutoFit/>
          </a:bodyPr>
          <a:lstStyle/>
          <a:p>
            <a:pPr marL="12700"/>
            <a:r>
              <a:rPr lang="en-US" dirty="0" spc="-25">
                <a:latin typeface="Cambria"/>
                <a:cs typeface="Cambria"/>
              </a:rPr>
              <a:t>Schema, Keys &amp; Constraints</a:t>
            </a:r>
          </a:p>
        </p:txBody>
      </p:sp>
      <p:sp>
        <p:nvSpPr>
          <p:cNvPr id="4" name="Card 4"/>
          <p:cNvSpPr/>
          <p:nvPr/>
        </p:nvSpPr>
        <p:spPr>
          <a:xfrm>
            <a:off x="822956" y="2200000"/>
            <a:ext cx="5423559" cy="280000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5" name="Number 5"/>
          <p:cNvSpPr/>
          <p:nvPr/>
        </p:nvSpPr>
        <p:spPr>
          <a:xfrm>
            <a:off x="1072956" y="2450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1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922956" y="2450000"/>
            <a:ext cx="412355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2300" b="1" i="0">
                <a:solidFill>
                  <a:srgbClr val="1B4A4A"/>
                </a:solidFill>
                <a:latin typeface="Cambria"/>
                <a:cs typeface="Cambria"/>
              </a:rPr>
              <a:t>Primary Keys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1072956" y="3300000"/>
            <a:ext cx="4923559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student_id is VARCHAR(20); all other tables use INT AUTO_INCREMENT</a:t>
            </a:r>
          </a:p>
        </p:txBody>
      </p:sp>
      <p:sp>
        <p:nvSpPr>
          <p:cNvPr id="8" name="Card 8"/>
          <p:cNvSpPr/>
          <p:nvPr/>
        </p:nvSpPr>
        <p:spPr>
          <a:xfrm>
            <a:off x="6546515" y="2200000"/>
            <a:ext cx="5423559" cy="280000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9" name="Number 9"/>
          <p:cNvSpPr/>
          <p:nvPr/>
        </p:nvSpPr>
        <p:spPr>
          <a:xfrm>
            <a:off x="6796515" y="2450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2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7646515" y="2450000"/>
            <a:ext cx="412355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2300" b="1" i="0">
                <a:solidFill>
                  <a:srgbClr val="1B4A4A"/>
                </a:solidFill>
                <a:latin typeface="Cambria"/>
                <a:cs typeface="Cambria"/>
              </a:rPr>
              <a:t>Foreign Keys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6796515" y="3300000"/>
            <a:ext cx="4923559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Job to company, application to student and job, interview to application</a:t>
            </a:r>
          </a:p>
        </p:txBody>
      </p:sp>
      <p:sp>
        <p:nvSpPr>
          <p:cNvPr id="12" name="Card 12"/>
          <p:cNvSpPr/>
          <p:nvPr/>
        </p:nvSpPr>
        <p:spPr>
          <a:xfrm>
            <a:off x="12270074" y="2200000"/>
            <a:ext cx="5423559" cy="280000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3" name="Number 13"/>
          <p:cNvSpPr/>
          <p:nvPr/>
        </p:nvSpPr>
        <p:spPr>
          <a:xfrm>
            <a:off x="12520074" y="2450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3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13370074" y="2450000"/>
            <a:ext cx="412355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2300" b="1" i="0">
                <a:solidFill>
                  <a:srgbClr val="1B4A4A"/>
                </a:solidFill>
                <a:latin typeface="Cambria"/>
                <a:cs typeface="Cambria"/>
              </a:rPr>
              <a:t>UNIQUE &amp; NOT NULL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2520074" y="3300000"/>
            <a:ext cx="4923559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Student email and company HR email are unique; names and titles are required</a:t>
            </a:r>
          </a:p>
        </p:txBody>
      </p:sp>
      <p:sp>
        <p:nvSpPr>
          <p:cNvPr id="16" name="Card 16"/>
          <p:cNvSpPr/>
          <p:nvPr/>
        </p:nvSpPr>
        <p:spPr>
          <a:xfrm>
            <a:off x="822956" y="5300000"/>
            <a:ext cx="5423559" cy="280000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7" name="Number 17"/>
          <p:cNvSpPr/>
          <p:nvPr/>
        </p:nvSpPr>
        <p:spPr>
          <a:xfrm>
            <a:off x="1072956" y="5550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4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922956" y="5550000"/>
            <a:ext cx="412355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2300" b="1" i="0">
                <a:solidFill>
                  <a:srgbClr val="1B4A4A"/>
                </a:solidFill>
                <a:latin typeface="Cambria"/>
                <a:cs typeface="Cambria"/>
              </a:rPr>
              <a:t>CHECK Constraint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1072956" y="6400000"/>
            <a:ext cx="4923559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CGPA must lie between 0 and 10, stored as DECIMAL(4,2)</a:t>
            </a:r>
          </a:p>
        </p:txBody>
      </p:sp>
      <p:sp>
        <p:nvSpPr>
          <p:cNvPr id="20" name="Card 20"/>
          <p:cNvSpPr/>
          <p:nvPr/>
        </p:nvSpPr>
        <p:spPr>
          <a:xfrm>
            <a:off x="6546515" y="5300000"/>
            <a:ext cx="5423559" cy="280000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21" name="Number 21"/>
          <p:cNvSpPr/>
          <p:nvPr/>
        </p:nvSpPr>
        <p:spPr>
          <a:xfrm>
            <a:off x="6796515" y="5550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5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7646515" y="5550000"/>
            <a:ext cx="412355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2300" b="1" i="0">
                <a:solidFill>
                  <a:srgbClr val="1B4A4A"/>
                </a:solidFill>
                <a:latin typeface="Cambria"/>
                <a:cs typeface="Cambria"/>
              </a:rPr>
              <a:t>ENUM Domains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796515" y="6400000"/>
            <a:ext cx="4923559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Student: Unplaced / Placed. Application: Applied / Shortlisted / Rejected. Interview: Pending / Selected / Rejected</a:t>
            </a:r>
          </a:p>
        </p:txBody>
      </p:sp>
      <p:sp>
        <p:nvSpPr>
          <p:cNvPr id="24" name="Card 24"/>
          <p:cNvSpPr/>
          <p:nvPr/>
        </p:nvSpPr>
        <p:spPr>
          <a:xfrm>
            <a:off x="12270074" y="5300000"/>
            <a:ext cx="5423559" cy="280000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25" name="Number 25"/>
          <p:cNvSpPr/>
          <p:nvPr/>
        </p:nvSpPr>
        <p:spPr>
          <a:xfrm>
            <a:off x="12520074" y="5550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6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13370074" y="5550000"/>
            <a:ext cx="412355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2300" b="1" i="0">
                <a:solidFill>
                  <a:srgbClr val="1B4A4A"/>
                </a:solidFill>
                <a:latin typeface="Cambria"/>
                <a:cs typeface="Cambria"/>
              </a:rPr>
              <a:t>Default Values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12520074" y="6400000"/>
            <a:ext cx="4923559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Student status Unplaced, application date today, interview round 1, result Pending</a:t>
            </a:r>
          </a:p>
        </p:txBody>
      </p:sp>
      <p:sp>
        <p:nvSpPr>
          <p:cNvPr id="28" name="Banner 28"/>
          <p:cNvSpPr/>
          <p:nvPr/>
        </p:nvSpPr>
        <p:spPr>
          <a:xfrm>
            <a:off x="822956" y="8500000"/>
            <a:ext cx="16870679" cy="1000000"/>
          </a:xfrm>
          <a:prstGeom prst="roundRect">
            <a:avLst>
              <a:gd name="adj" fmla="val 13716"/>
            </a:avLst>
          </a:prstGeom>
          <a:solidFill>
            <a:srgbClr val="1B4A4A"/>
          </a:solidFill>
          <a:ln>
            <a:noFill/>
          </a:ln>
        </p:spPr>
        <p:txBody>
          <a:bodyPr wrap="square" lIns="300000" tIns="300000" rIns="300000" bIns="30000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2000" b="1" i="0">
                <a:solidFill>
                  <a:srgbClr val="D98E3C"/>
                </a:solidFill>
                <a:latin typeface="Calibri"/>
                <a:cs typeface="Calibri"/>
              </a:rPr>
              <a:t>Normalization: </a:t>
            </a:r>
            <a:r>
              <a:rPr lang="en-US" dirty="0" sz="2000" b="0" i="0">
                <a:solidFill>
                  <a:srgbClr val="FFFFFF"/>
                </a:solidFill>
                <a:latin typeface="Calibri"/>
                <a:cs typeface="Calibri"/>
              </a:rPr>
              <a:t>every table is in 3NF; non-key columns depend only on their own table key.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10259" y="509185"/>
            <a:ext cx="120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 spc="225">
                <a:solidFill>
                  <a:srgbClr val="D98E3C"/>
                </a:solidFill>
                <a:latin typeface="Calibri"/>
                <a:cs typeface="Calibri"/>
              </a:rPr>
              <a:t>PYTHON + MYSQL</a:t>
            </a:r>
          </a:p>
        </p:txBody>
      </p:sp>
      <p:sp>
        <p:nvSpPr>
          <p:cNvPr id="3" name="Title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315" rIns="0" bIns="0" rtlCol="0" vert="horz">
            <a:spAutoFit/>
          </a:bodyPr>
          <a:lstStyle/>
          <a:p>
            <a:pPr marL="12700"/>
            <a:r>
              <a:rPr lang="en-US" dirty="0" spc="-25">
                <a:latin typeface="Cambria"/>
                <a:cs typeface="Cambria"/>
              </a:rPr>
              <a:t>System Architecture</a:t>
            </a:r>
          </a:p>
        </p:txBody>
      </p:sp>
      <p:sp>
        <p:nvSpPr>
          <p:cNvPr id="4" name="Layer 4"/>
          <p:cNvSpPr/>
          <p:nvPr/>
        </p:nvSpPr>
        <p:spPr>
          <a:xfrm>
            <a:off x="822956" y="2250000"/>
            <a:ext cx="3300000" cy="1900000"/>
          </a:xfrm>
          <a:prstGeom prst="roundRect">
            <a:avLst>
              <a:gd name="adj" fmla="val 7218"/>
            </a:avLst>
          </a:prstGeom>
          <a:solidFill>
            <a:srgbClr val="2C3A8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User</a:t>
            </a:r>
          </a:p>
          <a:p>
            <a:pPr algn="ctr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FFFFFF"/>
                </a:solidFill>
                <a:latin typeface="Calibri"/>
                <a:cs typeface="Calibri"/>
              </a:rPr>
              <a:t>Console menu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4222956" y="3200000"/>
            <a:ext cx="1023559" cy="0"/>
          </a:xfrm>
          <a:prstGeom prst="line">
            <a:avLst/>
          </a:prstGeom>
          <a:ln w="38100">
            <a:solidFill>
              <a:srgbClr val="D98E3C"/>
            </a:solidFill>
            <a:tailEnd type="triangle" w="lg" len="lg"/>
          </a:ln>
        </p:spPr>
      </p:cxnSp>
      <p:sp>
        <p:nvSpPr>
          <p:cNvPr id="6" name="Layer 6"/>
          <p:cNvSpPr/>
          <p:nvPr/>
        </p:nvSpPr>
        <p:spPr>
          <a:xfrm>
            <a:off x="5346515" y="2250000"/>
            <a:ext cx="3300000" cy="1900000"/>
          </a:xfrm>
          <a:prstGeom prst="roundRect">
            <a:avLst>
              <a:gd name="adj" fmla="val 7218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main.py</a:t>
            </a:r>
          </a:p>
          <a:p>
            <a:pPr algn="ctr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FFFFFF"/>
                </a:solidFill>
                <a:latin typeface="Calibri"/>
                <a:cs typeface="Calibri"/>
              </a:rPr>
              <a:t>Application logic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8746515" y="3200000"/>
            <a:ext cx="1023559" cy="0"/>
          </a:xfrm>
          <a:prstGeom prst="line">
            <a:avLst/>
          </a:prstGeom>
          <a:ln w="38100">
            <a:solidFill>
              <a:srgbClr val="D98E3C"/>
            </a:solidFill>
            <a:tailEnd type="triangle" w="lg" len="lg"/>
          </a:ln>
        </p:spPr>
      </p:cxnSp>
      <p:sp>
        <p:nvSpPr>
          <p:cNvPr id="8" name="Layer 8"/>
          <p:cNvSpPr/>
          <p:nvPr/>
        </p:nvSpPr>
        <p:spPr>
          <a:xfrm>
            <a:off x="9870074" y="2250000"/>
            <a:ext cx="3300000" cy="1900000"/>
          </a:xfrm>
          <a:prstGeom prst="roundRect">
            <a:avLst>
              <a:gd name="adj" fmla="val 7218"/>
            </a:avLst>
          </a:prstGeom>
          <a:solidFill>
            <a:srgbClr val="2C3A8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db.py</a:t>
            </a:r>
          </a:p>
          <a:p>
            <a:pPr algn="ctr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FFFFFF"/>
                </a:solidFill>
                <a:latin typeface="Calibri"/>
                <a:cs typeface="Calibri"/>
              </a:rPr>
              <a:t>get_db_connection()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13270074" y="3200000"/>
            <a:ext cx="1023559" cy="0"/>
          </a:xfrm>
          <a:prstGeom prst="line">
            <a:avLst/>
          </a:prstGeom>
          <a:ln w="38100">
            <a:solidFill>
              <a:srgbClr val="D98E3C"/>
            </a:solidFill>
            <a:tailEnd type="triangle" w="lg" len="lg"/>
          </a:ln>
        </p:spPr>
      </p:cxnSp>
      <p:sp>
        <p:nvSpPr>
          <p:cNvPr id="10" name="Layer 10"/>
          <p:cNvSpPr/>
          <p:nvPr/>
        </p:nvSpPr>
        <p:spPr>
          <a:xfrm>
            <a:off x="14393633" y="2250000"/>
            <a:ext cx="3300000" cy="1900000"/>
          </a:xfrm>
          <a:prstGeom prst="roundRect">
            <a:avLst>
              <a:gd name="adj" fmla="val 7218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MySQL</a:t>
            </a:r>
          </a:p>
          <a:p>
            <a:pPr algn="ctr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FFFFFF"/>
                </a:solidFill>
                <a:latin typeface="Calibri"/>
                <a:cs typeface="Calibri"/>
              </a:rPr>
              <a:t>campus_placement</a:t>
            </a:r>
          </a:p>
        </p:txBody>
      </p:sp>
      <p:sp>
        <p:nvSpPr>
          <p:cNvPr id="11" name="Card 11"/>
          <p:cNvSpPr/>
          <p:nvPr/>
        </p:nvSpPr>
        <p:spPr>
          <a:xfrm>
            <a:off x="822956" y="4650000"/>
            <a:ext cx="5423559" cy="3500000"/>
          </a:xfrm>
          <a:prstGeom prst="roundRect">
            <a:avLst>
              <a:gd name="adj" fmla="val 3918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1122956" y="4900000"/>
            <a:ext cx="4823559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2300" b="1" i="0">
                <a:solidFill>
                  <a:srgbClr val="1B4A4A"/>
                </a:solidFill>
                <a:latin typeface="Cambria"/>
                <a:cs typeface="Cambria"/>
              </a:rPr>
              <a:t>Python 3 + connector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122956" y="5700000"/>
            <a:ext cx="4823559" cy="3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285750" indent="-285750">
              <a:spcAft>
                <a:spcPts val="10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mysql-connector-python links the app to MySQL</a:t>
            </a:r>
          </a:p>
          <a:p>
            <a:pPr algn="l" marL="285750" indent="-285750">
              <a:spcAft>
                <a:spcPts val="10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Parameterized queries using %s</a:t>
            </a:r>
          </a:p>
          <a:p>
            <a:pPr algn="l" marL="285750" indent="-285750">
              <a:spcAft>
                <a:spcPts val="10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commit() saves each change</a:t>
            </a:r>
          </a:p>
        </p:txBody>
      </p:sp>
      <p:sp>
        <p:nvSpPr>
          <p:cNvPr id="14" name="Card 14"/>
          <p:cNvSpPr/>
          <p:nvPr/>
        </p:nvSpPr>
        <p:spPr>
          <a:xfrm>
            <a:off x="6546515" y="4650000"/>
            <a:ext cx="5423559" cy="3500000"/>
          </a:xfrm>
          <a:prstGeom prst="roundRect">
            <a:avLst>
              <a:gd name="adj" fmla="val 3918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5" name="Text 15"/>
          <p:cNvSpPr txBox="1"/>
          <p:nvPr/>
        </p:nvSpPr>
        <p:spPr>
          <a:xfrm>
            <a:off x="6846515" y="4900000"/>
            <a:ext cx="4823559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2300" b="1" i="0">
                <a:solidFill>
                  <a:srgbClr val="1B4A4A"/>
                </a:solidFill>
                <a:latin typeface="Cambria"/>
                <a:cs typeface="Cambria"/>
              </a:rPr>
              <a:t>MySQL database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6846515" y="5700000"/>
            <a:ext cx="4823559" cy="3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285750" indent="-285750">
              <a:spcAft>
                <a:spcPts val="10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Five related tables</a:t>
            </a:r>
          </a:p>
          <a:p>
            <a:pPr algn="l" marL="285750" indent="-285750">
              <a:spcAft>
                <a:spcPts val="10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Foreign keys keep records consistent</a:t>
            </a:r>
          </a:p>
          <a:p>
            <a:pPr algn="l" marL="285750" indent="-285750">
              <a:spcAft>
                <a:spcPts val="10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JOINs across 3 to 5 tables for reports</a:t>
            </a:r>
          </a:p>
        </p:txBody>
      </p:sp>
      <p:sp>
        <p:nvSpPr>
          <p:cNvPr id="17" name="Card 17"/>
          <p:cNvSpPr/>
          <p:nvPr/>
        </p:nvSpPr>
        <p:spPr>
          <a:xfrm>
            <a:off x="12270074" y="4650000"/>
            <a:ext cx="5423559" cy="3500000"/>
          </a:xfrm>
          <a:prstGeom prst="roundRect">
            <a:avLst>
              <a:gd name="adj" fmla="val 3918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8" name="Text 18"/>
          <p:cNvSpPr txBox="1"/>
          <p:nvPr/>
        </p:nvSpPr>
        <p:spPr>
          <a:xfrm>
            <a:off x="12570074" y="4900000"/>
            <a:ext cx="4823559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2300" b="1" i="0">
                <a:solidFill>
                  <a:srgbClr val="1B4A4A"/>
                </a:solidFill>
                <a:latin typeface="Cambria"/>
                <a:cs typeface="Cambria"/>
              </a:rPr>
              <a:t>Console interface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12570074" y="5700000"/>
            <a:ext cx="4823559" cy="3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285750" indent="-285750">
              <a:spcAft>
                <a:spcPts val="10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Menu with 11 options</a:t>
            </a:r>
          </a:p>
          <a:p>
            <a:pPr algn="l" marL="285750" indent="-285750">
              <a:spcAft>
                <a:spcPts val="10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Lists valid IDs before asking for input</a:t>
            </a:r>
          </a:p>
          <a:p>
            <a:pPr algn="l" marL="285750" indent="-285750">
              <a:spcAft>
                <a:spcPts val="1000"/>
              </a:spcAft>
              <a:buClr>
                <a:srgbClr val="D98E3C"/>
              </a:buClr>
              <a:buFont typeface="Arial"/>
              <a:buChar char="•"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Errors caught with try / except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10259" y="509185"/>
            <a:ext cx="120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 spc="225">
                <a:solidFill>
                  <a:srgbClr val="D98E3C"/>
                </a:solidFill>
                <a:latin typeface="Calibri"/>
                <a:cs typeface="Calibri"/>
              </a:rPr>
              <a:t>WHAT IS BUILT SO FAR</a:t>
            </a:r>
          </a:p>
        </p:txBody>
      </p:sp>
      <p:sp>
        <p:nvSpPr>
          <p:cNvPr id="3" name="Title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315" rIns="0" bIns="0" rtlCol="0" vert="horz">
            <a:spAutoFit/>
          </a:bodyPr>
          <a:lstStyle/>
          <a:p>
            <a:pPr marL="12700"/>
            <a:r>
              <a:rPr lang="en-US" dirty="0" spc="-25">
                <a:latin typeface="Cambria"/>
                <a:cs typeface="Cambria"/>
              </a:rPr>
              <a:t>Implementation Progress</a:t>
            </a:r>
          </a:p>
        </p:txBody>
      </p:sp>
      <p:sp>
        <p:nvSpPr>
          <p:cNvPr id="4" name="Header 4"/>
          <p:cNvSpPr/>
          <p:nvPr/>
        </p:nvSpPr>
        <p:spPr>
          <a:xfrm>
            <a:off x="822956" y="2150000"/>
            <a:ext cx="16870679" cy="650000"/>
          </a:xfrm>
          <a:prstGeom prst="roundRect">
            <a:avLst>
              <a:gd name="adj" fmla="val 21101"/>
            </a:avLst>
          </a:prstGeom>
          <a:solidFill>
            <a:srgbClr val="1B4A4A"/>
          </a:solidFill>
          <a:ln>
            <a:noFill/>
          </a:ln>
        </p:spPr>
        <p:txBody>
          <a:bodyPr wrap="square" lIns="300000" tIns="300000" rIns="300000" bIns="30000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FFFFFF"/>
                </a:solidFill>
                <a:latin typeface="Calibri"/>
                <a:cs typeface="Calibri"/>
              </a:rPr>
              <a:t>Module</a:t>
            </a: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5" name="Text 5"/>
          <p:cNvSpPr txBox="1"/>
          <p:nvPr/>
        </p:nvSpPr>
        <p:spPr>
          <a:xfrm>
            <a:off x="6322956" y="2150000"/>
            <a:ext cx="85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FFFFFF"/>
                </a:solidFill>
                <a:latin typeface="Calibri"/>
                <a:cs typeface="Calibri"/>
              </a:rPr>
              <a:t>What it does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4822956" y="2150000"/>
            <a:ext cx="25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FFFFFF"/>
                </a:solidFill>
                <a:latin typeface="Calibri"/>
                <a:cs typeface="Calibri"/>
              </a:rPr>
              <a:t>Status</a:t>
            </a:r>
          </a:p>
        </p:txBody>
      </p:sp>
      <p:sp>
        <p:nvSpPr>
          <p:cNvPr id="7" name="Card 7"/>
          <p:cNvSpPr/>
          <p:nvPr/>
        </p:nvSpPr>
        <p:spPr>
          <a:xfrm>
            <a:off x="822956" y="2900000"/>
            <a:ext cx="16870679" cy="780000"/>
          </a:xfrm>
          <a:prstGeom prst="roundRect">
            <a:avLst>
              <a:gd name="adj" fmla="val 1758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1122956" y="2900000"/>
            <a:ext cx="49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placement.sql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322956" y="2900000"/>
            <a:ext cx="82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Five tables with keys, CHECK, ENUM and defaults</a:t>
            </a:r>
          </a:p>
        </p:txBody>
      </p:sp>
      <p:sp>
        <p:nvSpPr>
          <p:cNvPr id="10" name="Status 10"/>
          <p:cNvSpPr/>
          <p:nvPr/>
        </p:nvSpPr>
        <p:spPr>
          <a:xfrm>
            <a:off x="14822956" y="3080000"/>
            <a:ext cx="1900000" cy="420000"/>
          </a:xfrm>
          <a:prstGeom prst="roundRect">
            <a:avLst>
              <a:gd name="adj" fmla="val 50000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600" b="1" i="0">
                <a:solidFill>
                  <a:srgbClr val="FFFFFF"/>
                </a:solidFill>
                <a:latin typeface="Calibri"/>
                <a:cs typeface="Calibri"/>
              </a:rPr>
              <a:t>Completed</a:t>
            </a:r>
          </a:p>
        </p:txBody>
      </p:sp>
      <p:sp>
        <p:nvSpPr>
          <p:cNvPr id="11" name="Card 11"/>
          <p:cNvSpPr/>
          <p:nvPr/>
        </p:nvSpPr>
        <p:spPr>
          <a:xfrm>
            <a:off x="822956" y="3800000"/>
            <a:ext cx="16870679" cy="780000"/>
          </a:xfrm>
          <a:prstGeom prst="roundRect">
            <a:avLst>
              <a:gd name="adj" fmla="val 1758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1122956" y="3800000"/>
            <a:ext cx="49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db.py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322956" y="3800000"/>
            <a:ext cx="82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MySQL connection helper with error handling</a:t>
            </a:r>
          </a:p>
        </p:txBody>
      </p:sp>
      <p:sp>
        <p:nvSpPr>
          <p:cNvPr id="14" name="Status 14"/>
          <p:cNvSpPr/>
          <p:nvPr/>
        </p:nvSpPr>
        <p:spPr>
          <a:xfrm>
            <a:off x="14822956" y="3980000"/>
            <a:ext cx="1900000" cy="420000"/>
          </a:xfrm>
          <a:prstGeom prst="roundRect">
            <a:avLst>
              <a:gd name="adj" fmla="val 50000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600" b="1" i="0">
                <a:solidFill>
                  <a:srgbClr val="FFFFFF"/>
                </a:solidFill>
                <a:latin typeface="Calibri"/>
                <a:cs typeface="Calibri"/>
              </a:rPr>
              <a:t>Completed</a:t>
            </a:r>
          </a:p>
        </p:txBody>
      </p:sp>
      <p:sp>
        <p:nvSpPr>
          <p:cNvPr id="15" name="Card 15"/>
          <p:cNvSpPr/>
          <p:nvPr/>
        </p:nvSpPr>
        <p:spPr>
          <a:xfrm>
            <a:off x="822956" y="4700000"/>
            <a:ext cx="16870679" cy="780000"/>
          </a:xfrm>
          <a:prstGeom prst="roundRect">
            <a:avLst>
              <a:gd name="adj" fmla="val 1758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6" name="Text 16"/>
          <p:cNvSpPr txBox="1"/>
          <p:nvPr/>
        </p:nvSpPr>
        <p:spPr>
          <a:xfrm>
            <a:off x="1122956" y="4700000"/>
            <a:ext cx="49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Students &amp; Companies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6322956" y="4700000"/>
            <a:ext cx="82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Add and view records (options 1 to 4)</a:t>
            </a:r>
          </a:p>
        </p:txBody>
      </p:sp>
      <p:sp>
        <p:nvSpPr>
          <p:cNvPr id="18" name="Status 18"/>
          <p:cNvSpPr/>
          <p:nvPr/>
        </p:nvSpPr>
        <p:spPr>
          <a:xfrm>
            <a:off x="14822956" y="4880000"/>
            <a:ext cx="1900000" cy="420000"/>
          </a:xfrm>
          <a:prstGeom prst="roundRect">
            <a:avLst>
              <a:gd name="adj" fmla="val 50000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600" b="1" i="0">
                <a:solidFill>
                  <a:srgbClr val="FFFFFF"/>
                </a:solidFill>
                <a:latin typeface="Calibri"/>
                <a:cs typeface="Calibri"/>
              </a:rPr>
              <a:t>Completed</a:t>
            </a:r>
          </a:p>
        </p:txBody>
      </p:sp>
      <p:sp>
        <p:nvSpPr>
          <p:cNvPr id="19" name="Card 19"/>
          <p:cNvSpPr/>
          <p:nvPr/>
        </p:nvSpPr>
        <p:spPr>
          <a:xfrm>
            <a:off x="822956" y="5600000"/>
            <a:ext cx="16870679" cy="780000"/>
          </a:xfrm>
          <a:prstGeom prst="roundRect">
            <a:avLst>
              <a:gd name="adj" fmla="val 1758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20" name="Text 20"/>
          <p:cNvSpPr txBox="1"/>
          <p:nvPr/>
        </p:nvSpPr>
        <p:spPr>
          <a:xfrm>
            <a:off x="1122956" y="5600000"/>
            <a:ext cx="49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Job Postings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6322956" y="5600000"/>
            <a:ext cx="82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Add and view, joined with company name (options 5, 6)</a:t>
            </a:r>
          </a:p>
        </p:txBody>
      </p:sp>
      <p:sp>
        <p:nvSpPr>
          <p:cNvPr id="22" name="Status 22"/>
          <p:cNvSpPr/>
          <p:nvPr/>
        </p:nvSpPr>
        <p:spPr>
          <a:xfrm>
            <a:off x="14822956" y="5780000"/>
            <a:ext cx="1900000" cy="420000"/>
          </a:xfrm>
          <a:prstGeom prst="roundRect">
            <a:avLst>
              <a:gd name="adj" fmla="val 50000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600" b="1" i="0">
                <a:solidFill>
                  <a:srgbClr val="FFFFFF"/>
                </a:solidFill>
                <a:latin typeface="Calibri"/>
                <a:cs typeface="Calibri"/>
              </a:rPr>
              <a:t>Completed</a:t>
            </a:r>
          </a:p>
        </p:txBody>
      </p:sp>
      <p:sp>
        <p:nvSpPr>
          <p:cNvPr id="23" name="Card 23"/>
          <p:cNvSpPr/>
          <p:nvPr/>
        </p:nvSpPr>
        <p:spPr>
          <a:xfrm>
            <a:off x="822956" y="6500000"/>
            <a:ext cx="16870679" cy="780000"/>
          </a:xfrm>
          <a:prstGeom prst="roundRect">
            <a:avLst>
              <a:gd name="adj" fmla="val 1758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24" name="Text 24"/>
          <p:cNvSpPr txBox="1"/>
          <p:nvPr/>
        </p:nvSpPr>
        <p:spPr>
          <a:xfrm>
            <a:off x="1122956" y="6500000"/>
            <a:ext cx="49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Applications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6322956" y="6500000"/>
            <a:ext cx="82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Add and view using a 4-table JOIN (options 7, 8)</a:t>
            </a:r>
          </a:p>
        </p:txBody>
      </p:sp>
      <p:sp>
        <p:nvSpPr>
          <p:cNvPr id="26" name="Status 26"/>
          <p:cNvSpPr/>
          <p:nvPr/>
        </p:nvSpPr>
        <p:spPr>
          <a:xfrm>
            <a:off x="14822956" y="6680000"/>
            <a:ext cx="1900000" cy="420000"/>
          </a:xfrm>
          <a:prstGeom prst="roundRect">
            <a:avLst>
              <a:gd name="adj" fmla="val 50000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600" b="1" i="0">
                <a:solidFill>
                  <a:srgbClr val="FFFFFF"/>
                </a:solidFill>
                <a:latin typeface="Calibri"/>
                <a:cs typeface="Calibri"/>
              </a:rPr>
              <a:t>Completed</a:t>
            </a:r>
          </a:p>
        </p:txBody>
      </p:sp>
      <p:sp>
        <p:nvSpPr>
          <p:cNvPr id="27" name="Card 27"/>
          <p:cNvSpPr/>
          <p:nvPr/>
        </p:nvSpPr>
        <p:spPr>
          <a:xfrm>
            <a:off x="822956" y="7400000"/>
            <a:ext cx="16870679" cy="780000"/>
          </a:xfrm>
          <a:prstGeom prst="roundRect">
            <a:avLst>
              <a:gd name="adj" fmla="val 1758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28" name="Text 28"/>
          <p:cNvSpPr txBox="1"/>
          <p:nvPr/>
        </p:nvSpPr>
        <p:spPr>
          <a:xfrm>
            <a:off x="1122956" y="7400000"/>
            <a:ext cx="49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Interviews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6322956" y="7400000"/>
            <a:ext cx="82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Schedule and view using a 5-table JOIN (options 9, 10)</a:t>
            </a:r>
          </a:p>
        </p:txBody>
      </p:sp>
      <p:sp>
        <p:nvSpPr>
          <p:cNvPr id="30" name="Status 30"/>
          <p:cNvSpPr/>
          <p:nvPr/>
        </p:nvSpPr>
        <p:spPr>
          <a:xfrm>
            <a:off x="14822956" y="7580000"/>
            <a:ext cx="1900000" cy="420000"/>
          </a:xfrm>
          <a:prstGeom prst="roundRect">
            <a:avLst>
              <a:gd name="adj" fmla="val 50000"/>
            </a:avLst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600" b="1" i="0">
                <a:solidFill>
                  <a:srgbClr val="FFFFFF"/>
                </a:solidFill>
                <a:latin typeface="Calibri"/>
                <a:cs typeface="Calibri"/>
              </a:rPr>
              <a:t>Completed</a:t>
            </a:r>
          </a:p>
        </p:txBody>
      </p:sp>
      <p:sp>
        <p:nvSpPr>
          <p:cNvPr id="31" name="Card 31"/>
          <p:cNvSpPr/>
          <p:nvPr/>
        </p:nvSpPr>
        <p:spPr>
          <a:xfrm>
            <a:off x="822956" y="8300000"/>
            <a:ext cx="16870679" cy="780000"/>
          </a:xfrm>
          <a:prstGeom prst="roundRect">
            <a:avLst>
              <a:gd name="adj" fmla="val 17584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32" name="Text 32"/>
          <p:cNvSpPr txBox="1"/>
          <p:nvPr/>
        </p:nvSpPr>
        <p:spPr>
          <a:xfrm>
            <a:off x="1122956" y="8300000"/>
            <a:ext cx="49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1B4A4A"/>
                </a:solidFill>
                <a:latin typeface="Calibri"/>
                <a:cs typeface="Calibri"/>
              </a:rPr>
              <a:t>Eligibility, update / delete, reports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6322956" y="8300000"/>
            <a:ext cx="8200000" cy="7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Planned for the final phase</a:t>
            </a:r>
          </a:p>
        </p:txBody>
      </p:sp>
      <p:sp>
        <p:nvSpPr>
          <p:cNvPr id="34" name="Status 34"/>
          <p:cNvSpPr/>
          <p:nvPr/>
        </p:nvSpPr>
        <p:spPr>
          <a:xfrm>
            <a:off x="14822956" y="8480000"/>
            <a:ext cx="1900000" cy="420000"/>
          </a:xfrm>
          <a:prstGeom prst="roundRect">
            <a:avLst>
              <a:gd name="adj" fmla="val 50000"/>
            </a:avLst>
          </a:prstGeom>
          <a:solidFill>
            <a:srgbClr val="D98E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1600" b="1" i="0">
                <a:solidFill>
                  <a:srgbClr val="FFFFFF"/>
                </a:solidFill>
                <a:latin typeface="Calibri"/>
                <a:cs typeface="Calibri"/>
              </a:rPr>
              <a:t>Next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10259" y="509185"/>
            <a:ext cx="120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 spc="225">
                <a:solidFill>
                  <a:srgbClr val="D98E3C"/>
                </a:solidFill>
                <a:latin typeface="Calibri"/>
                <a:cs typeface="Calibri"/>
              </a:rPr>
              <a:t>LIVE DEMO</a:t>
            </a:r>
          </a:p>
        </p:txBody>
      </p:sp>
      <p:sp>
        <p:nvSpPr>
          <p:cNvPr id="3" name="Title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315" rIns="0" bIns="0" rtlCol="0" vert="horz">
            <a:spAutoFit/>
          </a:bodyPr>
          <a:lstStyle/>
          <a:p>
            <a:pPr marL="12700"/>
            <a:r>
              <a:rPr lang="en-US" dirty="0" spc="-25">
                <a:latin typeface="Cambria"/>
                <a:cs typeface="Cambria"/>
              </a:rPr>
              <a:t>Prototype Demonstration</a:t>
            </a:r>
          </a:p>
        </p:txBody>
      </p:sp>
      <p:sp>
        <p:nvSpPr>
          <p:cNvPr id="4" name="Console 4"/>
          <p:cNvSpPr/>
          <p:nvPr/>
        </p:nvSpPr>
        <p:spPr>
          <a:xfrm>
            <a:off x="822956" y="2150000"/>
            <a:ext cx="7700000" cy="7250000"/>
          </a:xfrm>
          <a:prstGeom prst="roundRect">
            <a:avLst>
              <a:gd name="adj" fmla="val 1891"/>
            </a:avLst>
          </a:prstGeom>
          <a:solidFill>
            <a:srgbClr val="1F332F"/>
          </a:solidFill>
          <a:ln>
            <a:noFill/>
          </a:ln>
        </p:spPr>
        <p:txBody>
          <a:bodyPr wrap="square" lIns="350000" tIns="350000" rIns="350000" bIns="35000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BBD8CC"/>
                </a:solidFill>
                <a:latin typeface="Courier New"/>
                <a:cs typeface="Courier New"/>
              </a:rPr>
              <a:t>==============================</a:t>
            </a:r>
          </a:p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BBD8CC"/>
                </a:solidFill>
                <a:latin typeface="Courier New"/>
                <a:cs typeface="Courier New"/>
              </a:rPr>
              <a:t> CAMPUS PLACEMENT SYSTEM</a:t>
            </a:r>
          </a:p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BBD8CC"/>
                </a:solidFill>
                <a:latin typeface="Courier New"/>
                <a:cs typeface="Courier New"/>
              </a:rPr>
              <a:t>==============================</a:t>
            </a:r>
          </a:p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BBD8CC"/>
                </a:solidFill>
                <a:latin typeface="Courier New"/>
                <a:cs typeface="Courier New"/>
              </a:rPr>
              <a:t>1. Add a New Student</a:t>
            </a:r>
          </a:p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BBD8CC"/>
                </a:solidFill>
                <a:latin typeface="Courier New"/>
                <a:cs typeface="Courier New"/>
              </a:rPr>
              <a:t>2. View All Students</a:t>
            </a:r>
          </a:p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BBD8CC"/>
                </a:solidFill>
                <a:latin typeface="Courier New"/>
                <a:cs typeface="Courier New"/>
              </a:rPr>
              <a:t>3. Add a New Company</a:t>
            </a:r>
          </a:p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BBD8CC"/>
                </a:solidFill>
                <a:latin typeface="Courier New"/>
                <a:cs typeface="Courier New"/>
              </a:rPr>
              <a:t>4. View All Companies</a:t>
            </a:r>
          </a:p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BBD8CC"/>
                </a:solidFill>
                <a:latin typeface="Courier New"/>
                <a:cs typeface="Courier New"/>
              </a:rPr>
              <a:t>5. Add a New Job Posting</a:t>
            </a:r>
          </a:p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BBD8CC"/>
                </a:solidFill>
                <a:latin typeface="Courier New"/>
                <a:cs typeface="Courier New"/>
              </a:rPr>
              <a:t>6. View All Job Postings</a:t>
            </a:r>
          </a:p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BBD8CC"/>
                </a:solidFill>
                <a:latin typeface="Courier New"/>
                <a:cs typeface="Courier New"/>
              </a:rPr>
              <a:t>7. Add a New Application</a:t>
            </a:r>
          </a:p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BBD8CC"/>
                </a:solidFill>
                <a:latin typeface="Courier New"/>
                <a:cs typeface="Courier New"/>
              </a:rPr>
              <a:t>8. View All Applications</a:t>
            </a:r>
          </a:p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BBD8CC"/>
                </a:solidFill>
                <a:latin typeface="Courier New"/>
                <a:cs typeface="Courier New"/>
              </a:rPr>
              <a:t>9. Schedule an Interview</a:t>
            </a:r>
          </a:p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BBD8CC"/>
                </a:solidFill>
                <a:latin typeface="Courier New"/>
                <a:cs typeface="Courier New"/>
              </a:rPr>
              <a:t>10. View All Interviews</a:t>
            </a:r>
          </a:p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BBD8CC"/>
                </a:solidFill>
                <a:latin typeface="Courier New"/>
                <a:cs typeface="Courier New"/>
              </a:rPr>
              <a:t>11. Exit</a:t>
            </a:r>
          </a:p>
          <a:p>
            <a:pPr algn="l">
              <a:spcAft>
                <a:spcPts val="0"/>
              </a:spcAft>
              <a:buNone/>
            </a:pPr>
            <a:r>
              <a:rPr lang="en-US" dirty="0" sz="1800" b="1" i="0">
                <a:solidFill>
                  <a:srgbClr val="D98E3C"/>
                </a:solidFill>
                <a:latin typeface="Courier New"/>
                <a:cs typeface="Courier New"/>
              </a:rPr>
              <a:t>Enter your choice (1-11): </a:t>
            </a:r>
          </a:p>
        </p:txBody>
      </p:sp>
      <p:sp>
        <p:nvSpPr>
          <p:cNvPr id="5" name="Card 5"/>
          <p:cNvSpPr/>
          <p:nvPr/>
        </p:nvSpPr>
        <p:spPr>
          <a:xfrm>
            <a:off x="8972956" y="2150000"/>
            <a:ext cx="8720679" cy="1050000"/>
          </a:xfrm>
          <a:prstGeom prst="roundRect">
            <a:avLst>
              <a:gd name="adj" fmla="val 13062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6" name="Number 6"/>
          <p:cNvSpPr/>
          <p:nvPr/>
        </p:nvSpPr>
        <p:spPr>
          <a:xfrm>
            <a:off x="9222956" y="2332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1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10122956" y="2150000"/>
            <a:ext cx="7370679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Add a company and a job posting (options 3, 5)</a:t>
            </a:r>
          </a:p>
        </p:txBody>
      </p:sp>
      <p:sp>
        <p:nvSpPr>
          <p:cNvPr id="8" name="Card 8"/>
          <p:cNvSpPr/>
          <p:nvPr/>
        </p:nvSpPr>
        <p:spPr>
          <a:xfrm>
            <a:off x="8972956" y="3380000"/>
            <a:ext cx="8720679" cy="1050000"/>
          </a:xfrm>
          <a:prstGeom prst="roundRect">
            <a:avLst>
              <a:gd name="adj" fmla="val 13062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9" name="Number 9"/>
          <p:cNvSpPr/>
          <p:nvPr/>
        </p:nvSpPr>
        <p:spPr>
          <a:xfrm>
            <a:off x="9222956" y="3562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2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122956" y="3380000"/>
            <a:ext cx="7370679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Add a student with CGPA (option 1)</a:t>
            </a:r>
          </a:p>
        </p:txBody>
      </p:sp>
      <p:sp>
        <p:nvSpPr>
          <p:cNvPr id="11" name="Card 11"/>
          <p:cNvSpPr/>
          <p:nvPr/>
        </p:nvSpPr>
        <p:spPr>
          <a:xfrm>
            <a:off x="8972956" y="4610000"/>
            <a:ext cx="8720679" cy="1050000"/>
          </a:xfrm>
          <a:prstGeom prst="roundRect">
            <a:avLst>
              <a:gd name="adj" fmla="val 13062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2" name="Number 12"/>
          <p:cNvSpPr/>
          <p:nvPr/>
        </p:nvSpPr>
        <p:spPr>
          <a:xfrm>
            <a:off x="9222956" y="4792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3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10122956" y="4610000"/>
            <a:ext cx="7370679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Submit an application (option 7)</a:t>
            </a:r>
          </a:p>
        </p:txBody>
      </p:sp>
      <p:sp>
        <p:nvSpPr>
          <p:cNvPr id="14" name="Card 14"/>
          <p:cNvSpPr/>
          <p:nvPr/>
        </p:nvSpPr>
        <p:spPr>
          <a:xfrm>
            <a:off x="8972956" y="5840000"/>
            <a:ext cx="8720679" cy="1050000"/>
          </a:xfrm>
          <a:prstGeom prst="roundRect">
            <a:avLst>
              <a:gd name="adj" fmla="val 13062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5" name="Number 15"/>
          <p:cNvSpPr/>
          <p:nvPr/>
        </p:nvSpPr>
        <p:spPr>
          <a:xfrm>
            <a:off x="9222956" y="6022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4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0122956" y="5840000"/>
            <a:ext cx="7370679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Schedule an interview round (option 9)</a:t>
            </a:r>
          </a:p>
        </p:txBody>
      </p:sp>
      <p:sp>
        <p:nvSpPr>
          <p:cNvPr id="17" name="Card 17"/>
          <p:cNvSpPr/>
          <p:nvPr/>
        </p:nvSpPr>
        <p:spPr>
          <a:xfrm>
            <a:off x="8972956" y="7070000"/>
            <a:ext cx="8720679" cy="1050000"/>
          </a:xfrm>
          <a:prstGeom prst="roundRect">
            <a:avLst>
              <a:gd name="adj" fmla="val 13062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8" name="Number 18"/>
          <p:cNvSpPr/>
          <p:nvPr/>
        </p:nvSpPr>
        <p:spPr>
          <a:xfrm>
            <a:off x="9222956" y="7252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5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10122956" y="7070000"/>
            <a:ext cx="7370679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View joined reports (options 8 and 10)</a:t>
            </a:r>
          </a:p>
        </p:txBody>
      </p:sp>
      <p:sp>
        <p:nvSpPr>
          <p:cNvPr id="20" name="Card 20"/>
          <p:cNvSpPr/>
          <p:nvPr/>
        </p:nvSpPr>
        <p:spPr>
          <a:xfrm>
            <a:off x="8972956" y="8300000"/>
            <a:ext cx="8720679" cy="1050000"/>
          </a:xfrm>
          <a:prstGeom prst="roundRect">
            <a:avLst>
              <a:gd name="adj" fmla="val 13062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21" name="Number 21"/>
          <p:cNvSpPr/>
          <p:nvPr/>
        </p:nvSpPr>
        <p:spPr>
          <a:xfrm>
            <a:off x="9222956" y="8482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6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0122956" y="8300000"/>
            <a:ext cx="7370679" cy="10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Show validation: duplicate email or invalid CGPA is rejected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10259" y="509185"/>
            <a:ext cx="120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1" i="0" spc="225">
                <a:solidFill>
                  <a:srgbClr val="D98E3C"/>
                </a:solidFill>
                <a:latin typeface="Calibri"/>
                <a:cs typeface="Calibri"/>
              </a:rPr>
              <a:t>WHAT REMAINS</a:t>
            </a:r>
          </a:p>
        </p:txBody>
      </p:sp>
      <p:sp>
        <p:nvSpPr>
          <p:cNvPr id="3" name="Title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3315" rIns="0" bIns="0" rtlCol="0" vert="horz">
            <a:spAutoFit/>
          </a:bodyPr>
          <a:lstStyle/>
          <a:p>
            <a:pPr marL="12700"/>
            <a:r>
              <a:rPr lang="en-US" dirty="0" spc="-25">
                <a:latin typeface="Cambria"/>
                <a:cs typeface="Cambria"/>
              </a:rPr>
              <a:t>Next Steps &amp; Conclusion</a:t>
            </a:r>
          </a:p>
        </p:txBody>
      </p:sp>
      <p:sp>
        <p:nvSpPr>
          <p:cNvPr id="4" name="Card 4"/>
          <p:cNvSpPr/>
          <p:nvPr/>
        </p:nvSpPr>
        <p:spPr>
          <a:xfrm>
            <a:off x="822956" y="2150000"/>
            <a:ext cx="8700000" cy="1250000"/>
          </a:xfrm>
          <a:prstGeom prst="roundRect">
            <a:avLst>
              <a:gd name="adj" fmla="val 10972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5" name="Number 5"/>
          <p:cNvSpPr/>
          <p:nvPr/>
        </p:nvSpPr>
        <p:spPr>
          <a:xfrm>
            <a:off x="1072956" y="2432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1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972956" y="2150000"/>
            <a:ext cx="730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Check CGPA and deadline before an application is accepted</a:t>
            </a:r>
          </a:p>
        </p:txBody>
      </p:sp>
      <p:sp>
        <p:nvSpPr>
          <p:cNvPr id="7" name="Card 7"/>
          <p:cNvSpPr/>
          <p:nvPr/>
        </p:nvSpPr>
        <p:spPr>
          <a:xfrm>
            <a:off x="822956" y="3600000"/>
            <a:ext cx="8700000" cy="1250000"/>
          </a:xfrm>
          <a:prstGeom prst="roundRect">
            <a:avLst>
              <a:gd name="adj" fmla="val 10972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8" name="Number 8"/>
          <p:cNvSpPr/>
          <p:nvPr/>
        </p:nvSpPr>
        <p:spPr>
          <a:xfrm>
            <a:off x="1072956" y="3882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2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972956" y="3600000"/>
            <a:ext cx="730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Add update and delete operations for all records</a:t>
            </a:r>
          </a:p>
        </p:txBody>
      </p:sp>
      <p:sp>
        <p:nvSpPr>
          <p:cNvPr id="10" name="Card 10"/>
          <p:cNvSpPr/>
          <p:nvPr/>
        </p:nvSpPr>
        <p:spPr>
          <a:xfrm>
            <a:off x="822956" y="5050000"/>
            <a:ext cx="8700000" cy="1250000"/>
          </a:xfrm>
          <a:prstGeom prst="roundRect">
            <a:avLst>
              <a:gd name="adj" fmla="val 10972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1" name="Number 11"/>
          <p:cNvSpPr/>
          <p:nvPr/>
        </p:nvSpPr>
        <p:spPr>
          <a:xfrm>
            <a:off x="1072956" y="5332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3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972956" y="5050000"/>
            <a:ext cx="730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Mark students as Placed and store offers on selection</a:t>
            </a:r>
          </a:p>
        </p:txBody>
      </p:sp>
      <p:sp>
        <p:nvSpPr>
          <p:cNvPr id="13" name="Card 13"/>
          <p:cNvSpPr/>
          <p:nvPr/>
        </p:nvSpPr>
        <p:spPr>
          <a:xfrm>
            <a:off x="822956" y="6500000"/>
            <a:ext cx="8700000" cy="1250000"/>
          </a:xfrm>
          <a:prstGeom prst="roundRect">
            <a:avLst>
              <a:gd name="adj" fmla="val 10972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4" name="Number 14"/>
          <p:cNvSpPr/>
          <p:nvPr/>
        </p:nvSpPr>
        <p:spPr>
          <a:xfrm>
            <a:off x="1072956" y="6782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4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972956" y="6500000"/>
            <a:ext cx="730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Reports: company-wise statistics, placed vs unplaced</a:t>
            </a:r>
          </a:p>
        </p:txBody>
      </p:sp>
      <p:sp>
        <p:nvSpPr>
          <p:cNvPr id="16" name="Card 16"/>
          <p:cNvSpPr/>
          <p:nvPr/>
        </p:nvSpPr>
        <p:spPr>
          <a:xfrm>
            <a:off x="822956" y="7950000"/>
            <a:ext cx="8700000" cy="1250000"/>
          </a:xfrm>
          <a:prstGeom prst="roundRect">
            <a:avLst>
              <a:gd name="adj" fmla="val 10972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en-US"/>
          </a:p>
        </p:txBody>
      </p:sp>
      <p:sp>
        <p:nvSpPr>
          <p:cNvPr id="17" name="Number 17"/>
          <p:cNvSpPr/>
          <p:nvPr/>
        </p:nvSpPr>
        <p:spPr>
          <a:xfrm>
            <a:off x="1072956" y="8232000"/>
            <a:ext cx="685800" cy="685800"/>
          </a:xfrm>
          <a:prstGeom prst="ellipse">
            <a:avLst/>
          </a:prstGeom>
          <a:solidFill>
            <a:srgbClr val="1B4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US" dirty="0" sz="2500" b="1" i="0">
                <a:solidFill>
                  <a:srgbClr val="FFFFFF"/>
                </a:solidFill>
                <a:latin typeface="Cambria"/>
                <a:cs typeface="Cambria"/>
              </a:rPr>
              <a:t>5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972956" y="7950000"/>
            <a:ext cx="730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1F332F"/>
                </a:solidFill>
                <a:latin typeface="Calibri"/>
                <a:cs typeface="Calibri"/>
              </a:rPr>
              <a:t>Final testing, documentation and viva preparation</a:t>
            </a:r>
          </a:p>
        </p:txBody>
      </p:sp>
      <p:sp>
        <p:nvSpPr>
          <p:cNvPr id="19" name="Conclusion 19"/>
          <p:cNvSpPr/>
          <p:nvPr/>
        </p:nvSpPr>
        <p:spPr>
          <a:xfrm>
            <a:off x="9972956" y="2150000"/>
            <a:ext cx="7720679" cy="7050000"/>
          </a:xfrm>
          <a:prstGeom prst="roundRect">
            <a:avLst>
              <a:gd name="adj" fmla="val 1945"/>
            </a:avLst>
          </a:prstGeom>
          <a:solidFill>
            <a:srgbClr val="1B4A4A"/>
          </a:solidFill>
          <a:ln>
            <a:noFill/>
          </a:ln>
        </p:spPr>
        <p:txBody>
          <a:bodyPr wrap="square" lIns="400000" tIns="400000" rIns="400000" bIns="400000" rtlCol="0" anchor="t">
            <a:no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dirty="0" sz="1800" b="1" i="0" spc="225">
                <a:solidFill>
                  <a:srgbClr val="D98E3C"/>
                </a:solidFill>
                <a:latin typeface="Calibri"/>
                <a:cs typeface="Calibri"/>
              </a:rPr>
              <a:t>CONCLUSION</a:t>
            </a:r>
          </a:p>
          <a:p>
            <a:pPr algn="l">
              <a:spcAft>
                <a:spcPts val="1800"/>
              </a:spcAft>
              <a:buNone/>
            </a:pPr>
            <a:r>
              <a:rPr lang="en-US" dirty="0" sz="2200" b="0" i="0">
                <a:solidFill>
                  <a:srgbClr val="FFFFFF"/>
                </a:solidFill>
                <a:latin typeface="Calibri"/>
                <a:cs typeface="Calibri"/>
              </a:rPr>
              <a:t>A working Python and MySQL system now manages students, companies, jobs, applications and interviews in one structured database.</a:t>
            </a:r>
          </a:p>
          <a:p>
            <a:pPr algn="l">
              <a:spcAft>
                <a:spcPts val="600"/>
              </a:spcAft>
              <a:buNone/>
            </a:pPr>
            <a:r>
              <a:rPr lang="en-US" dirty="0" sz="3600" b="1" i="0">
                <a:solidFill>
                  <a:srgbClr val="FFFFFF"/>
                </a:solidFill>
                <a:latin typeface="Cambria"/>
                <a:cs typeface="Cambria"/>
              </a:rPr>
              <a:t>Thank You</a:t>
            </a:r>
          </a:p>
          <a:p>
            <a:pPr algn="l">
              <a:spcAft>
                <a:spcPts val="0"/>
              </a:spcAft>
              <a:buNone/>
            </a:pPr>
            <a:r>
              <a:rPr lang="en-US" dirty="0" sz="1800" b="0" i="0">
                <a:solidFill>
                  <a:srgbClr val="BBD8CC"/>
                </a:solidFill>
                <a:latin typeface="Calibri"/>
                <a:cs typeface="Calibri"/>
              </a:rPr>
              <a:t>Farhan Ansari  •  AIML RHINOS  •  25WU0102074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2026-09-07T18:05:16Z</dcterms:created>
  <dcterms:modified xsi:type="dcterms:W3CDTF">2026-09-07T18:05:16Z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v10.0.19912.1</vt:lpwstr>
  </property>
  <property fmtid="{D5CDD505-2E9C-101B-9397-08002B2CF9AE}" pid="3" name="Created">
    <vt:filetime>2026-09-07T00:00:00Z</vt:filetime>
  </property>
  <property fmtid="{D5CDD505-2E9C-101B-9397-08002B2CF9AE}" pid="4" name="CreationClient">
    <vt:lpwstr>pptx-direct-import</vt:lpwstr>
  </property>
  <property fmtid="{D5CDD505-2E9C-101B-9397-08002B2CF9AE}" pid="5" name="Creator">
    <vt:lpwstr>Adobe Express</vt:lpwstr>
  </property>
  <property fmtid="{D5CDD505-2E9C-101B-9397-08002B2CF9AE}" pid="6" name="LastSaved">
    <vt:filetime>2026-09-07T00:00:00Z</vt:filetime>
  </property>
  <property fmtid="{D5CDD505-2E9C-101B-9397-08002B2CF9AE}" pid="7" name="Producer">
    <vt:lpwstr>Adobe Express</vt:lpwstr>
  </property>
</Properties>
</file>